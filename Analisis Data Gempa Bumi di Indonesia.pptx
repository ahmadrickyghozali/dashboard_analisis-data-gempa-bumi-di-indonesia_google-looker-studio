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21"/>
  </p:notesMasterIdLst>
  <p:sldIdLst>
    <p:sldId id="256" r:id="rId3"/>
    <p:sldId id="257" r:id="rId4"/>
    <p:sldId id="260" r:id="rId5"/>
    <p:sldId id="261" r:id="rId6"/>
    <p:sldId id="263" r:id="rId7"/>
    <p:sldId id="258" r:id="rId8"/>
    <p:sldId id="264" r:id="rId9"/>
    <p:sldId id="265" r:id="rId10"/>
    <p:sldId id="266" r:id="rId11"/>
    <p:sldId id="267" r:id="rId12"/>
    <p:sldId id="268" r:id="rId13"/>
    <p:sldId id="269" r:id="rId14"/>
    <p:sldId id="271" r:id="rId15"/>
    <p:sldId id="272" r:id="rId16"/>
    <p:sldId id="273" r:id="rId17"/>
    <p:sldId id="274" r:id="rId18"/>
    <p:sldId id="270" r:id="rId19"/>
    <p:sldId id="259" r:id="rId20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Light" panose="00000400000000000000" pitchFamily="2" charset="0"/>
      <p:regular r:id="rId26"/>
      <p:bold r:id="rId27"/>
      <p:italic r:id="rId28"/>
      <p:boldItalic r:id="rId29"/>
    </p:embeddedFont>
    <p:embeddedFont>
      <p:font typeface="Poppins SemiBold" panose="00000700000000000000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80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5.fntdata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0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8569ad431c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8569ad431c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9ad431c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8569ad431c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9EF6CC63-D82F-12A3-F759-6A881BA23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9ad431c_0_123:notes">
            <a:extLst>
              <a:ext uri="{FF2B5EF4-FFF2-40B4-BE49-F238E27FC236}">
                <a16:creationId xmlns:a16="http://schemas.microsoft.com/office/drawing/2014/main" id="{3DD92197-D5C6-3767-F96C-7E29FC7998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8569ad431c_0_123:notes">
            <a:extLst>
              <a:ext uri="{FF2B5EF4-FFF2-40B4-BE49-F238E27FC236}">
                <a16:creationId xmlns:a16="http://schemas.microsoft.com/office/drawing/2014/main" id="{73A5F986-B0A6-CFAF-EA72-CD44D98840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7277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20319DED-66C7-247E-AC27-AAF521CC3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9ad431c_0_123:notes">
            <a:extLst>
              <a:ext uri="{FF2B5EF4-FFF2-40B4-BE49-F238E27FC236}">
                <a16:creationId xmlns:a16="http://schemas.microsoft.com/office/drawing/2014/main" id="{C305DD9E-5F96-709E-AB1A-ED33DE9C09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8569ad431c_0_123:notes">
            <a:extLst>
              <a:ext uri="{FF2B5EF4-FFF2-40B4-BE49-F238E27FC236}">
                <a16:creationId xmlns:a16="http://schemas.microsoft.com/office/drawing/2014/main" id="{A2566460-55C8-2C8B-14A1-699F3309F9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655613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>
          <a:extLst>
            <a:ext uri="{FF2B5EF4-FFF2-40B4-BE49-F238E27FC236}">
              <a16:creationId xmlns:a16="http://schemas.microsoft.com/office/drawing/2014/main" id="{DF2FC6D5-DA8A-4150-08E3-7F3CD1F1F2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8569ad431c_0_123:notes">
            <a:extLst>
              <a:ext uri="{FF2B5EF4-FFF2-40B4-BE49-F238E27FC236}">
                <a16:creationId xmlns:a16="http://schemas.microsoft.com/office/drawing/2014/main" id="{CAD793E5-6E87-F976-6FC1-33E8DEEAED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28569ad431c_0_123:notes">
            <a:extLst>
              <a:ext uri="{FF2B5EF4-FFF2-40B4-BE49-F238E27FC236}">
                <a16:creationId xmlns:a16="http://schemas.microsoft.com/office/drawing/2014/main" id="{122050C2-A570-4AC0-3D40-975F9B5351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9371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64C8178-120C-F6B7-9630-0D68A831F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>
            <a:extLst>
              <a:ext uri="{FF2B5EF4-FFF2-40B4-BE49-F238E27FC236}">
                <a16:creationId xmlns:a16="http://schemas.microsoft.com/office/drawing/2014/main" id="{EBF27B60-2F49-FDCA-F515-8551EAF8F2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>
            <a:extLst>
              <a:ext uri="{FF2B5EF4-FFF2-40B4-BE49-F238E27FC236}">
                <a16:creationId xmlns:a16="http://schemas.microsoft.com/office/drawing/2014/main" id="{8D2F87B1-F9EA-6EC1-5F51-1F9FD82115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85744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A4AF27E-7F72-8A9B-3E0D-BAF5B1259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>
            <a:extLst>
              <a:ext uri="{FF2B5EF4-FFF2-40B4-BE49-F238E27FC236}">
                <a16:creationId xmlns:a16="http://schemas.microsoft.com/office/drawing/2014/main" id="{1E8D7F65-462B-EF98-871E-F3B2F9216D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>
            <a:extLst>
              <a:ext uri="{FF2B5EF4-FFF2-40B4-BE49-F238E27FC236}">
                <a16:creationId xmlns:a16="http://schemas.microsoft.com/office/drawing/2014/main" id="{C0AC3321-ABAA-C235-FA4E-4102A790C66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13950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0BF0A69D-3989-116F-3236-3BA9C3BA2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>
            <a:extLst>
              <a:ext uri="{FF2B5EF4-FFF2-40B4-BE49-F238E27FC236}">
                <a16:creationId xmlns:a16="http://schemas.microsoft.com/office/drawing/2014/main" id="{7274D3A8-8420-3E37-E810-5BFDAA352C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>
            <a:extLst>
              <a:ext uri="{FF2B5EF4-FFF2-40B4-BE49-F238E27FC236}">
                <a16:creationId xmlns:a16="http://schemas.microsoft.com/office/drawing/2014/main" id="{E69C6670-608D-0620-A857-56F052A608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3240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C20CC59E-B671-4276-E7DF-B7EE29E5C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>
            <a:extLst>
              <a:ext uri="{FF2B5EF4-FFF2-40B4-BE49-F238E27FC236}">
                <a16:creationId xmlns:a16="http://schemas.microsoft.com/office/drawing/2014/main" id="{37285989-65A4-B395-2AAD-C40DDEF21F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>
            <a:extLst>
              <a:ext uri="{FF2B5EF4-FFF2-40B4-BE49-F238E27FC236}">
                <a16:creationId xmlns:a16="http://schemas.microsoft.com/office/drawing/2014/main" id="{8DD54722-5DA1-CAAD-C00B-4C74FBB403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711198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7FC40238-AEC5-C6FC-B819-C91EDA6A0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>
            <a:extLst>
              <a:ext uri="{FF2B5EF4-FFF2-40B4-BE49-F238E27FC236}">
                <a16:creationId xmlns:a16="http://schemas.microsoft.com/office/drawing/2014/main" id="{C6CB9F3F-4954-0705-9276-8C49C09623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>
            <a:extLst>
              <a:ext uri="{FF2B5EF4-FFF2-40B4-BE49-F238E27FC236}">
                <a16:creationId xmlns:a16="http://schemas.microsoft.com/office/drawing/2014/main" id="{C52E30AE-AFB0-F7C8-DAC6-295CE186E5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3713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EF799A5-F63B-B400-1741-D94D8589A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>
            <a:extLst>
              <a:ext uri="{FF2B5EF4-FFF2-40B4-BE49-F238E27FC236}">
                <a16:creationId xmlns:a16="http://schemas.microsoft.com/office/drawing/2014/main" id="{37248997-C778-DA89-81FD-3EED11205DB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>
            <a:extLst>
              <a:ext uri="{FF2B5EF4-FFF2-40B4-BE49-F238E27FC236}">
                <a16:creationId xmlns:a16="http://schemas.microsoft.com/office/drawing/2014/main" id="{C7411809-CB9D-5211-CBA5-94F98DD7B5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879370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B29BE216-45CF-E030-396D-CB3A48379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>
            <a:extLst>
              <a:ext uri="{FF2B5EF4-FFF2-40B4-BE49-F238E27FC236}">
                <a16:creationId xmlns:a16="http://schemas.microsoft.com/office/drawing/2014/main" id="{D6F9CA5C-7802-9790-996E-913FFD4AF8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>
            <a:extLst>
              <a:ext uri="{FF2B5EF4-FFF2-40B4-BE49-F238E27FC236}">
                <a16:creationId xmlns:a16="http://schemas.microsoft.com/office/drawing/2014/main" id="{E8D38845-530E-9D51-89C5-44AACE8B46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05994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BDC2160E-D527-DFAE-0A71-90574000C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>
            <a:extLst>
              <a:ext uri="{FF2B5EF4-FFF2-40B4-BE49-F238E27FC236}">
                <a16:creationId xmlns:a16="http://schemas.microsoft.com/office/drawing/2014/main" id="{83DB9C2C-AE83-CEED-5494-50D6393144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>
            <a:extLst>
              <a:ext uri="{FF2B5EF4-FFF2-40B4-BE49-F238E27FC236}">
                <a16:creationId xmlns:a16="http://schemas.microsoft.com/office/drawing/2014/main" id="{56E3676C-A385-D2AD-4076-1FA2471F1D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91845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728F6537-7705-5209-D6D6-9424E2577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>
            <a:extLst>
              <a:ext uri="{FF2B5EF4-FFF2-40B4-BE49-F238E27FC236}">
                <a16:creationId xmlns:a16="http://schemas.microsoft.com/office/drawing/2014/main" id="{DDD52A6A-BD78-E745-0355-BFFD28D10F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>
            <a:extLst>
              <a:ext uri="{FF2B5EF4-FFF2-40B4-BE49-F238E27FC236}">
                <a16:creationId xmlns:a16="http://schemas.microsoft.com/office/drawing/2014/main" id="{8E4765B8-49B7-ACBE-76E1-E33FB44D4A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8610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BF16AECE-5187-E289-852A-CCD04449D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569ad431c_0_80:notes">
            <a:extLst>
              <a:ext uri="{FF2B5EF4-FFF2-40B4-BE49-F238E27FC236}">
                <a16:creationId xmlns:a16="http://schemas.microsoft.com/office/drawing/2014/main" id="{63F0FC1F-37F0-6B85-C49C-3B1EF3E622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569ad431c_0_80:notes">
            <a:extLst>
              <a:ext uri="{FF2B5EF4-FFF2-40B4-BE49-F238E27FC236}">
                <a16:creationId xmlns:a16="http://schemas.microsoft.com/office/drawing/2014/main" id="{82783C09-DE52-A6BA-3558-77A02B56BE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75245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8569ad431c_0_1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8569ad431c_0_1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215700" y="859800"/>
            <a:ext cx="4020300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215700" y="4107600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080000" y="1958850"/>
            <a:ext cx="69840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32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8156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672450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355375"/>
            <a:ext cx="8520600" cy="3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oppins"/>
              <a:buChar char="●"/>
              <a:defRPr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265500" y="1425175"/>
            <a:ext cx="26385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None/>
              <a:defRPr sz="33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subTitle" idx="1"/>
          </p:nvPr>
        </p:nvSpPr>
        <p:spPr>
          <a:xfrm>
            <a:off x="265500" y="3144000"/>
            <a:ext cx="23865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3F73A"/>
              </a:buClr>
              <a:buSzPts val="1700"/>
              <a:buFont typeface="Poppins Light"/>
              <a:buNone/>
              <a:defRPr sz="1700">
                <a:solidFill>
                  <a:srgbClr val="C3F73A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3972000" y="724075"/>
            <a:ext cx="48045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4" name="Google Shape;74;p1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>
            <a:spLocks noGrp="1"/>
          </p:cNvSpPr>
          <p:nvPr>
            <p:ph type="title"/>
          </p:nvPr>
        </p:nvSpPr>
        <p:spPr>
          <a:xfrm>
            <a:off x="1829850" y="206502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81" name="Google Shape;81;p21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4" name="Google Shape;84;p22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D606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1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579775"/>
            <a:ext cx="54843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606D"/>
              </a:buClr>
              <a:buSzPts val="2800"/>
              <a:buFont typeface="Poppins"/>
              <a:buNone/>
              <a:defRPr sz="2800" b="1" i="0" u="none" strike="noStrike" cap="none">
                <a:solidFill>
                  <a:srgbClr val="0D606D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355375"/>
            <a:ext cx="8520600" cy="3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Poppins SemiBold"/>
              <a:buChar char="●"/>
              <a:defRPr sz="1800" b="0" i="0" u="none" strike="noStrike" cap="none">
                <a:solidFill>
                  <a:schemeClr val="accen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●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○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/>
              <a:buChar char="■"/>
              <a:defRPr sz="1400" b="0" i="0" u="none" strike="noStrike" cap="none">
                <a:solidFill>
                  <a:schemeClr val="accent2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>
            <a:spLocks noGrp="1"/>
          </p:cNvSpPr>
          <p:nvPr>
            <p:ph type="ctrTitle"/>
          </p:nvPr>
        </p:nvSpPr>
        <p:spPr>
          <a:xfrm>
            <a:off x="215700" y="859800"/>
            <a:ext cx="4020300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en-US" dirty="0" err="1"/>
              <a:t>Analisis</a:t>
            </a:r>
            <a:r>
              <a:rPr lang="en-US" dirty="0"/>
              <a:t> Data </a:t>
            </a:r>
            <a:r>
              <a:rPr lang="en-US" dirty="0" err="1"/>
              <a:t>Gempa</a:t>
            </a:r>
            <a:r>
              <a:rPr lang="en-US" dirty="0"/>
              <a:t> Bumi di Indonesia</a:t>
            </a:r>
            <a:endParaRPr dirty="0"/>
          </a:p>
        </p:txBody>
      </p:sp>
      <p:sp>
        <p:nvSpPr>
          <p:cNvPr id="90" name="Google Shape;90;p23"/>
          <p:cNvSpPr txBox="1">
            <a:spLocks noGrp="1"/>
          </p:cNvSpPr>
          <p:nvPr>
            <p:ph type="subTitle" idx="1"/>
          </p:nvPr>
        </p:nvSpPr>
        <p:spPr>
          <a:xfrm>
            <a:off x="215700" y="4443675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35"/>
              <a:buNone/>
            </a:pPr>
            <a:r>
              <a:rPr lang="en" dirty="0"/>
              <a:t>Ahmad Ricky Ghozali</a:t>
            </a:r>
            <a:endParaRPr dirty="0"/>
          </a:p>
        </p:txBody>
      </p:sp>
      <p:sp>
        <p:nvSpPr>
          <p:cNvPr id="91" name="Google Shape;91;p23"/>
          <p:cNvSpPr txBox="1"/>
          <p:nvPr/>
        </p:nvSpPr>
        <p:spPr>
          <a:xfrm>
            <a:off x="215700" y="3852975"/>
            <a:ext cx="4248300" cy="5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 dirty="0">
                <a:solidFill>
                  <a:srgbClr val="21212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Bootcamp Data Analyst with SQL &amp; Python using Google Platform</a:t>
            </a:r>
            <a:endParaRPr sz="1900" dirty="0">
              <a:solidFill>
                <a:srgbClr val="21212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9EADCA-7DE1-E44C-73D9-CE45526090B2}"/>
              </a:ext>
            </a:extLst>
          </p:cNvPr>
          <p:cNvSpPr txBox="1"/>
          <p:nvPr/>
        </p:nvSpPr>
        <p:spPr>
          <a:xfrm>
            <a:off x="3412446" y="293240"/>
            <a:ext cx="23191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Latar </a:t>
            </a:r>
            <a:r>
              <a:rPr lang="en-US" sz="2000" dirty="0" err="1">
                <a:solidFill>
                  <a:schemeClr val="bg1"/>
                </a:solidFill>
                <a:latin typeface="Poppins" panose="020B0502040204020203" pitchFamily="2" charset="0"/>
                <a:cs typeface="Poppins" panose="020B0502040204020203" pitchFamily="2" charset="0"/>
              </a:rPr>
              <a:t>Belakang</a:t>
            </a:r>
            <a:endParaRPr lang="en-ID" sz="2000" dirty="0">
              <a:solidFill>
                <a:schemeClr val="bg1"/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C5980B-A033-E844-5F38-B3DFFE7B40EC}"/>
              </a:ext>
            </a:extLst>
          </p:cNvPr>
          <p:cNvSpPr txBox="1"/>
          <p:nvPr/>
        </p:nvSpPr>
        <p:spPr>
          <a:xfrm>
            <a:off x="876561" y="1063648"/>
            <a:ext cx="7390876" cy="20033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1200" dirty="0">
                <a:solidFill>
                  <a:schemeClr val="bg1"/>
                </a:solidFill>
              </a:rPr>
              <a:t>Indonesia </a:t>
            </a:r>
            <a:r>
              <a:rPr lang="en-ID" sz="1200" dirty="0" err="1">
                <a:solidFill>
                  <a:schemeClr val="bg1"/>
                </a:solidFill>
              </a:rPr>
              <a:t>merupakan</a:t>
            </a:r>
            <a:r>
              <a:rPr lang="en-ID" sz="1200" dirty="0">
                <a:solidFill>
                  <a:schemeClr val="bg1"/>
                </a:solidFill>
              </a:rPr>
              <a:t> salah </a:t>
            </a:r>
            <a:r>
              <a:rPr lang="en-ID" sz="1200" dirty="0" err="1">
                <a:solidFill>
                  <a:schemeClr val="bg1"/>
                </a:solidFill>
              </a:rPr>
              <a:t>satu</a:t>
            </a:r>
            <a:r>
              <a:rPr lang="en-ID" sz="1200" dirty="0">
                <a:solidFill>
                  <a:schemeClr val="bg1"/>
                </a:solidFill>
              </a:rPr>
              <a:t> wilayah </a:t>
            </a:r>
            <a:r>
              <a:rPr lang="en-ID" sz="1200" dirty="0" err="1">
                <a:solidFill>
                  <a:schemeClr val="bg1"/>
                </a:solidFill>
              </a:rPr>
              <a:t>dengan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aktivitas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seismik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tertinggi</a:t>
            </a:r>
            <a:r>
              <a:rPr lang="en-ID" sz="1200" dirty="0">
                <a:solidFill>
                  <a:schemeClr val="bg1"/>
                </a:solidFill>
              </a:rPr>
              <a:t> di dunia </a:t>
            </a:r>
            <a:r>
              <a:rPr lang="en-ID" sz="1200" dirty="0" err="1">
                <a:solidFill>
                  <a:schemeClr val="bg1"/>
                </a:solidFill>
              </a:rPr>
              <a:t>karena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letak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geografisnya</a:t>
            </a:r>
            <a:r>
              <a:rPr lang="en-ID" sz="1200" dirty="0">
                <a:solidFill>
                  <a:schemeClr val="bg1"/>
                </a:solidFill>
              </a:rPr>
              <a:t> yang </a:t>
            </a:r>
            <a:r>
              <a:rPr lang="en-ID" sz="1200" dirty="0" err="1">
                <a:solidFill>
                  <a:schemeClr val="bg1"/>
                </a:solidFill>
              </a:rPr>
              <a:t>berada</a:t>
            </a:r>
            <a:r>
              <a:rPr lang="en-ID" sz="1200" dirty="0">
                <a:solidFill>
                  <a:schemeClr val="bg1"/>
                </a:solidFill>
              </a:rPr>
              <a:t> di </a:t>
            </a:r>
            <a:r>
              <a:rPr lang="en-ID" sz="1200" dirty="0" err="1">
                <a:solidFill>
                  <a:schemeClr val="bg1"/>
                </a:solidFill>
              </a:rPr>
              <a:t>pertemuan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empat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lempeng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tektonik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utama</a:t>
            </a:r>
            <a:r>
              <a:rPr lang="en-ID" sz="1200" dirty="0">
                <a:solidFill>
                  <a:schemeClr val="bg1"/>
                </a:solidFill>
              </a:rPr>
              <a:t>. </a:t>
            </a:r>
            <a:r>
              <a:rPr lang="en-ID" sz="1200" dirty="0" err="1">
                <a:solidFill>
                  <a:schemeClr val="bg1"/>
                </a:solidFill>
              </a:rPr>
              <a:t>Analisis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komprehensif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terhadap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lebih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dari</a:t>
            </a:r>
            <a:r>
              <a:rPr lang="en-ID" sz="1200" dirty="0">
                <a:solidFill>
                  <a:schemeClr val="bg1"/>
                </a:solidFill>
              </a:rPr>
              <a:t> 90.000 data </a:t>
            </a:r>
            <a:r>
              <a:rPr lang="en-ID" sz="1200" dirty="0" err="1">
                <a:solidFill>
                  <a:schemeClr val="bg1"/>
                </a:solidFill>
              </a:rPr>
              <a:t>gempa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periode</a:t>
            </a:r>
            <a:r>
              <a:rPr lang="en-ID" sz="1200" dirty="0">
                <a:solidFill>
                  <a:schemeClr val="bg1"/>
                </a:solidFill>
              </a:rPr>
              <a:t> 2008–2023 </a:t>
            </a:r>
            <a:r>
              <a:rPr lang="en-ID" sz="1200" dirty="0" err="1">
                <a:solidFill>
                  <a:schemeClr val="bg1"/>
                </a:solidFill>
              </a:rPr>
              <a:t>ini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disusun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untuk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memetakan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karakteristik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fisik</a:t>
            </a:r>
            <a:r>
              <a:rPr lang="en-ID" sz="1200" dirty="0">
                <a:solidFill>
                  <a:schemeClr val="bg1"/>
                </a:solidFill>
              </a:rPr>
              <a:t>, </a:t>
            </a:r>
            <a:r>
              <a:rPr lang="en-ID" sz="1200" dirty="0" err="1">
                <a:solidFill>
                  <a:schemeClr val="bg1"/>
                </a:solidFill>
              </a:rPr>
              <a:t>tren</a:t>
            </a:r>
            <a:r>
              <a:rPr lang="en-ID" sz="1200" dirty="0">
                <a:solidFill>
                  <a:schemeClr val="bg1"/>
                </a:solidFill>
              </a:rPr>
              <a:t> temporal, </a:t>
            </a:r>
            <a:r>
              <a:rPr lang="en-ID" sz="1200" dirty="0" err="1">
                <a:solidFill>
                  <a:schemeClr val="bg1"/>
                </a:solidFill>
              </a:rPr>
              <a:t>serta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distribusi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spasial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aktivitas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seismik</a:t>
            </a:r>
            <a:r>
              <a:rPr lang="en-ID" sz="1200" dirty="0">
                <a:solidFill>
                  <a:schemeClr val="bg1"/>
                </a:solidFill>
              </a:rPr>
              <a:t> di </a:t>
            </a:r>
            <a:r>
              <a:rPr lang="en-ID" sz="1200" dirty="0" err="1">
                <a:solidFill>
                  <a:schemeClr val="bg1"/>
                </a:solidFill>
              </a:rPr>
              <a:t>seluruh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nusantara</a:t>
            </a:r>
            <a:r>
              <a:rPr lang="en-ID" sz="1200" dirty="0">
                <a:solidFill>
                  <a:schemeClr val="bg1"/>
                </a:solidFill>
              </a:rPr>
              <a:t>. </a:t>
            </a:r>
            <a:r>
              <a:rPr lang="en-ID" sz="1200" dirty="0" err="1">
                <a:solidFill>
                  <a:schemeClr val="bg1"/>
                </a:solidFill>
              </a:rPr>
              <a:t>Dengan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mengklasifikasikan</a:t>
            </a:r>
            <a:r>
              <a:rPr lang="en-ID" sz="1200" dirty="0">
                <a:solidFill>
                  <a:schemeClr val="bg1"/>
                </a:solidFill>
              </a:rPr>
              <a:t> parameter </a:t>
            </a:r>
            <a:r>
              <a:rPr lang="en-ID" sz="1200" dirty="0" err="1">
                <a:solidFill>
                  <a:schemeClr val="bg1"/>
                </a:solidFill>
              </a:rPr>
              <a:t>magnitudo</a:t>
            </a:r>
            <a:r>
              <a:rPr lang="en-ID" sz="1200" dirty="0">
                <a:solidFill>
                  <a:schemeClr val="bg1"/>
                </a:solidFill>
              </a:rPr>
              <a:t> dan </a:t>
            </a:r>
            <a:r>
              <a:rPr lang="en-ID" sz="1200" dirty="0" err="1">
                <a:solidFill>
                  <a:schemeClr val="bg1"/>
                </a:solidFill>
              </a:rPr>
              <a:t>kedalaman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pusat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bumi</a:t>
            </a:r>
            <a:r>
              <a:rPr lang="en-ID" sz="1200" dirty="0">
                <a:solidFill>
                  <a:schemeClr val="bg1"/>
                </a:solidFill>
              </a:rPr>
              <a:t>, </a:t>
            </a:r>
            <a:r>
              <a:rPr lang="en-ID" sz="1200" dirty="0" err="1">
                <a:solidFill>
                  <a:schemeClr val="bg1"/>
                </a:solidFill>
              </a:rPr>
              <a:t>laporan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ini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bertujuan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menyediakan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wawasan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berbasis</a:t>
            </a:r>
            <a:r>
              <a:rPr lang="en-ID" sz="1200" dirty="0">
                <a:solidFill>
                  <a:schemeClr val="bg1"/>
                </a:solidFill>
              </a:rPr>
              <a:t> data </a:t>
            </a:r>
            <a:r>
              <a:rPr lang="en-ID" sz="1200" dirty="0" err="1">
                <a:solidFill>
                  <a:schemeClr val="bg1"/>
                </a:solidFill>
              </a:rPr>
              <a:t>bagi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upaya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mitigasi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bencana</a:t>
            </a:r>
            <a:r>
              <a:rPr lang="en-ID" sz="1200" dirty="0">
                <a:solidFill>
                  <a:schemeClr val="bg1"/>
                </a:solidFill>
              </a:rPr>
              <a:t> dan </a:t>
            </a:r>
            <a:r>
              <a:rPr lang="en-ID" sz="1200" dirty="0" err="1">
                <a:solidFill>
                  <a:schemeClr val="bg1"/>
                </a:solidFill>
              </a:rPr>
              <a:t>pemahaman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mendalam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mengenai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profil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risiko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gempa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bumi</a:t>
            </a:r>
            <a:r>
              <a:rPr lang="en-ID" sz="1200" dirty="0">
                <a:solidFill>
                  <a:schemeClr val="bg1"/>
                </a:solidFill>
              </a:rPr>
              <a:t> di Indonesia.</a:t>
            </a:r>
            <a:endParaRPr lang="en-ID" sz="1200" dirty="0">
              <a:solidFill>
                <a:schemeClr val="bg1"/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79650765-BC15-B0BE-D421-925BB45AD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EAB0485-2128-37BF-69AF-CF0D873FD98D}"/>
              </a:ext>
            </a:extLst>
          </p:cNvPr>
          <p:cNvSpPr txBox="1"/>
          <p:nvPr/>
        </p:nvSpPr>
        <p:spPr>
          <a:xfrm>
            <a:off x="3648532" y="274321"/>
            <a:ext cx="1846931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2000" dirty="0" err="1">
                <a:solidFill>
                  <a:schemeClr val="bg1"/>
                </a:solidFill>
              </a:rPr>
              <a:t>Deskripsi</a:t>
            </a:r>
            <a:r>
              <a:rPr lang="en-ID" sz="2000" dirty="0">
                <a:solidFill>
                  <a:schemeClr val="bg1"/>
                </a:solidFill>
              </a:rPr>
              <a:t> Data</a:t>
            </a:r>
          </a:p>
        </p:txBody>
      </p:sp>
      <p:sp>
        <p:nvSpPr>
          <p:cNvPr id="7" name="Google Shape;89;p23">
            <a:extLst>
              <a:ext uri="{FF2B5EF4-FFF2-40B4-BE49-F238E27FC236}">
                <a16:creationId xmlns:a16="http://schemas.microsoft.com/office/drawing/2014/main" id="{B2EF404F-2E72-B9A2-24C4-587C55A2FF92}"/>
              </a:ext>
            </a:extLst>
          </p:cNvPr>
          <p:cNvSpPr txBox="1">
            <a:spLocks/>
          </p:cNvSpPr>
          <p:nvPr/>
        </p:nvSpPr>
        <p:spPr>
          <a:xfrm>
            <a:off x="366403" y="941781"/>
            <a:ext cx="8411191" cy="24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oppins"/>
              <a:buNone/>
              <a:defRPr sz="3200" b="1" i="0" u="none" strike="noStrike" cap="none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ID" sz="1200" b="0" dirty="0">
                <a:solidFill>
                  <a:schemeClr val="bg1"/>
                </a:solidFill>
              </a:rPr>
              <a:t>Dataset </a:t>
            </a:r>
            <a:r>
              <a:rPr lang="en-ID" sz="1200" b="0" dirty="0">
                <a:solidFill>
                  <a:schemeClr val="accent6"/>
                </a:solidFill>
              </a:rPr>
              <a:t>katalog_gempa.csv </a:t>
            </a:r>
            <a:r>
              <a:rPr lang="en-ID" sz="1200" b="0" dirty="0" err="1">
                <a:solidFill>
                  <a:schemeClr val="bg1"/>
                </a:solidFill>
              </a:rPr>
              <a:t>bersumber</a:t>
            </a:r>
            <a:r>
              <a:rPr lang="en-ID" sz="1200" b="0" dirty="0">
                <a:solidFill>
                  <a:schemeClr val="bg1"/>
                </a:solidFill>
              </a:rPr>
              <a:t> </a:t>
            </a:r>
            <a:r>
              <a:rPr lang="en-ID" sz="1200" b="0" dirty="0" err="1">
                <a:solidFill>
                  <a:schemeClr val="bg1"/>
                </a:solidFill>
              </a:rPr>
              <a:t>dari</a:t>
            </a:r>
            <a:r>
              <a:rPr lang="en-ID" sz="1200" b="0" dirty="0">
                <a:solidFill>
                  <a:schemeClr val="bg1"/>
                </a:solidFill>
              </a:rPr>
              <a:t> Kaggle</a:t>
            </a:r>
            <a:r>
              <a:rPr lang="en-ID" sz="1200" b="0" dirty="0"/>
              <a:t> </a:t>
            </a:r>
            <a:r>
              <a:rPr lang="en-ID" sz="1200" b="0" dirty="0">
                <a:solidFill>
                  <a:schemeClr val="bg1"/>
                </a:solidFill>
              </a:rPr>
              <a:t>yang </a:t>
            </a:r>
            <a:r>
              <a:rPr lang="en-ID" sz="1200" b="0" dirty="0" err="1">
                <a:solidFill>
                  <a:schemeClr val="bg1"/>
                </a:solidFill>
              </a:rPr>
              <a:t>terdiri</a:t>
            </a:r>
            <a:r>
              <a:rPr lang="en-ID" sz="1200" b="0" dirty="0">
                <a:solidFill>
                  <a:schemeClr val="bg1"/>
                </a:solidFill>
              </a:rPr>
              <a:t> </a:t>
            </a:r>
            <a:r>
              <a:rPr lang="en-ID" sz="1200" b="0" dirty="0" err="1">
                <a:solidFill>
                  <a:schemeClr val="bg1"/>
                </a:solidFill>
              </a:rPr>
              <a:t>dari</a:t>
            </a:r>
            <a:r>
              <a:rPr lang="en-ID" sz="1200" b="0" dirty="0">
                <a:solidFill>
                  <a:schemeClr val="bg1"/>
                </a:solidFill>
              </a:rPr>
              <a:t> </a:t>
            </a:r>
            <a:r>
              <a:rPr lang="en-ID" sz="1200" b="0" dirty="0" err="1">
                <a:solidFill>
                  <a:schemeClr val="bg1"/>
                </a:solidFill>
              </a:rPr>
              <a:t>sekitar</a:t>
            </a:r>
            <a:r>
              <a:rPr lang="en-ID" sz="1200" b="0" dirty="0">
                <a:solidFill>
                  <a:schemeClr val="bg1"/>
                </a:solidFill>
              </a:rPr>
              <a:t> 95.000 data dan 13 </a:t>
            </a:r>
            <a:r>
              <a:rPr lang="en-ID" sz="1200" b="0" dirty="0" err="1">
                <a:solidFill>
                  <a:schemeClr val="bg1"/>
                </a:solidFill>
              </a:rPr>
              <a:t>atribut</a:t>
            </a:r>
            <a:r>
              <a:rPr lang="en-ID" sz="1200" b="0" dirty="0">
                <a:solidFill>
                  <a:schemeClr val="bg1"/>
                </a:solidFill>
              </a:rPr>
              <a:t>. Data </a:t>
            </a:r>
            <a:r>
              <a:rPr lang="en-ID" sz="1200" b="0" dirty="0" err="1">
                <a:solidFill>
                  <a:schemeClr val="bg1"/>
                </a:solidFill>
              </a:rPr>
              <a:t>ini</a:t>
            </a:r>
            <a:r>
              <a:rPr lang="en-ID" sz="1200" b="0" dirty="0">
                <a:solidFill>
                  <a:schemeClr val="bg1"/>
                </a:solidFill>
              </a:rPr>
              <a:t> </a:t>
            </a:r>
            <a:r>
              <a:rPr lang="en-ID" sz="1200" b="0" dirty="0" err="1">
                <a:solidFill>
                  <a:schemeClr val="bg1"/>
                </a:solidFill>
              </a:rPr>
              <a:t>mencakup</a:t>
            </a:r>
            <a:r>
              <a:rPr lang="en-ID" sz="1200" b="0" dirty="0">
                <a:solidFill>
                  <a:schemeClr val="bg1"/>
                </a:solidFill>
              </a:rPr>
              <a:t> </a:t>
            </a:r>
            <a:r>
              <a:rPr lang="en-ID" sz="1200" b="0" dirty="0" err="1">
                <a:solidFill>
                  <a:schemeClr val="bg1"/>
                </a:solidFill>
              </a:rPr>
              <a:t>berbagai</a:t>
            </a:r>
            <a:r>
              <a:rPr lang="en-ID" sz="1200" b="0" dirty="0">
                <a:solidFill>
                  <a:schemeClr val="bg1"/>
                </a:solidFill>
              </a:rPr>
              <a:t> </a:t>
            </a:r>
            <a:r>
              <a:rPr lang="en-ID" sz="1200" b="0" dirty="0" err="1">
                <a:solidFill>
                  <a:schemeClr val="bg1"/>
                </a:solidFill>
              </a:rPr>
              <a:t>variabel</a:t>
            </a:r>
            <a:r>
              <a:rPr lang="en-ID" sz="1200" b="0" dirty="0">
                <a:solidFill>
                  <a:schemeClr val="bg1"/>
                </a:solidFill>
              </a:rPr>
              <a:t> </a:t>
            </a:r>
            <a:r>
              <a:rPr lang="en-ID" sz="1200" b="0" dirty="0" err="1">
                <a:solidFill>
                  <a:schemeClr val="bg1"/>
                </a:solidFill>
              </a:rPr>
              <a:t>terkait</a:t>
            </a:r>
            <a:r>
              <a:rPr lang="en-ID" sz="1200" b="0" dirty="0">
                <a:solidFill>
                  <a:schemeClr val="bg1"/>
                </a:solidFill>
              </a:rPr>
              <a:t> </a:t>
            </a:r>
            <a:r>
              <a:rPr lang="en-ID" sz="1200" b="0" dirty="0" err="1">
                <a:solidFill>
                  <a:schemeClr val="bg1"/>
                </a:solidFill>
              </a:rPr>
              <a:t>karakteristik</a:t>
            </a:r>
            <a:r>
              <a:rPr lang="en-ID" sz="1200" b="0" dirty="0">
                <a:solidFill>
                  <a:schemeClr val="bg1"/>
                </a:solidFill>
              </a:rPr>
              <a:t> </a:t>
            </a:r>
            <a:r>
              <a:rPr lang="en-ID" sz="1200" b="0" dirty="0" err="1">
                <a:solidFill>
                  <a:schemeClr val="bg1"/>
                </a:solidFill>
              </a:rPr>
              <a:t>gempa</a:t>
            </a:r>
            <a:r>
              <a:rPr lang="en-ID" sz="1200" b="0" dirty="0">
                <a:solidFill>
                  <a:schemeClr val="bg1"/>
                </a:solidFill>
              </a:rPr>
              <a:t> </a:t>
            </a:r>
            <a:r>
              <a:rPr lang="en-ID" sz="1200" b="0" dirty="0" err="1">
                <a:solidFill>
                  <a:schemeClr val="bg1"/>
                </a:solidFill>
              </a:rPr>
              <a:t>bumi</a:t>
            </a:r>
            <a:r>
              <a:rPr lang="en-ID" sz="1200" b="0" dirty="0">
                <a:solidFill>
                  <a:schemeClr val="bg1"/>
                </a:solidFill>
              </a:rPr>
              <a:t>, </a:t>
            </a:r>
            <a:r>
              <a:rPr lang="en-ID" sz="1200" b="0" dirty="0" err="1">
                <a:solidFill>
                  <a:schemeClr val="bg1"/>
                </a:solidFill>
              </a:rPr>
              <a:t>termasuk</a:t>
            </a:r>
            <a:r>
              <a:rPr lang="en-ID" sz="1200" b="0" dirty="0">
                <a:solidFill>
                  <a:schemeClr val="bg1"/>
                </a:solidFill>
              </a:rPr>
              <a:t> </a:t>
            </a:r>
            <a:r>
              <a:rPr lang="en-ID" sz="1200" b="0" dirty="0" err="1">
                <a:solidFill>
                  <a:schemeClr val="bg1"/>
                </a:solidFill>
              </a:rPr>
              <a:t>waktu</a:t>
            </a:r>
            <a:r>
              <a:rPr lang="en-ID" sz="1200" b="0" dirty="0">
                <a:solidFill>
                  <a:schemeClr val="bg1"/>
                </a:solidFill>
              </a:rPr>
              <a:t> </a:t>
            </a:r>
            <a:r>
              <a:rPr lang="en-ID" sz="1200" b="0" dirty="0" err="1">
                <a:solidFill>
                  <a:schemeClr val="bg1"/>
                </a:solidFill>
              </a:rPr>
              <a:t>presisi</a:t>
            </a:r>
            <a:r>
              <a:rPr lang="en-ID" sz="1200" b="0" dirty="0">
                <a:solidFill>
                  <a:schemeClr val="bg1"/>
                </a:solidFill>
              </a:rPr>
              <a:t>, </a:t>
            </a:r>
            <a:r>
              <a:rPr lang="en-ID" sz="1200" b="0" dirty="0" err="1">
                <a:solidFill>
                  <a:schemeClr val="bg1"/>
                </a:solidFill>
              </a:rPr>
              <a:t>lokasi</a:t>
            </a:r>
            <a:r>
              <a:rPr lang="en-ID" sz="1200" b="0" dirty="0">
                <a:solidFill>
                  <a:schemeClr val="bg1"/>
                </a:solidFill>
              </a:rPr>
              <a:t> </a:t>
            </a:r>
            <a:r>
              <a:rPr lang="en-ID" sz="1200" b="0" dirty="0" err="1">
                <a:solidFill>
                  <a:schemeClr val="bg1"/>
                </a:solidFill>
              </a:rPr>
              <a:t>geografis</a:t>
            </a:r>
            <a:r>
              <a:rPr lang="en-ID" sz="1200" b="0" dirty="0">
                <a:solidFill>
                  <a:schemeClr val="bg1"/>
                </a:solidFill>
              </a:rPr>
              <a:t>, dan parameter </a:t>
            </a:r>
            <a:r>
              <a:rPr lang="en-ID" sz="1200" b="0" dirty="0" err="1">
                <a:solidFill>
                  <a:schemeClr val="bg1"/>
                </a:solidFill>
              </a:rPr>
              <a:t>pergerakan</a:t>
            </a:r>
            <a:r>
              <a:rPr lang="en-ID" sz="1200" b="0" dirty="0">
                <a:solidFill>
                  <a:schemeClr val="bg1"/>
                </a:solidFill>
              </a:rPr>
              <a:t> </a:t>
            </a:r>
            <a:r>
              <a:rPr lang="en-ID" sz="1200" b="0" dirty="0" err="1">
                <a:solidFill>
                  <a:schemeClr val="bg1"/>
                </a:solidFill>
              </a:rPr>
              <a:t>tektonik</a:t>
            </a:r>
            <a:r>
              <a:rPr lang="en-ID" sz="1200" b="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D" sz="1200" b="0" dirty="0" err="1">
                <a:solidFill>
                  <a:schemeClr val="bg1"/>
                </a:solidFill>
              </a:rPr>
              <a:t>Atribut</a:t>
            </a:r>
            <a:r>
              <a:rPr lang="en-ID" sz="1200" b="0" dirty="0">
                <a:solidFill>
                  <a:schemeClr val="bg1"/>
                </a:solidFill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ID" sz="1200" b="0" dirty="0">
                <a:solidFill>
                  <a:schemeClr val="bg1"/>
                </a:solidFill>
              </a:rPr>
              <a:t>1. Waktu &amp; Lokasi: </a:t>
            </a:r>
            <a:r>
              <a:rPr lang="en-ID" sz="1200" b="0" dirty="0" err="1">
                <a:solidFill>
                  <a:schemeClr val="bg1"/>
                </a:solidFill>
              </a:rPr>
              <a:t>tgl</a:t>
            </a:r>
            <a:r>
              <a:rPr lang="en-ID" sz="1200" b="0" dirty="0">
                <a:solidFill>
                  <a:schemeClr val="bg1"/>
                </a:solidFill>
              </a:rPr>
              <a:t>, </a:t>
            </a:r>
            <a:r>
              <a:rPr lang="en-ID" sz="1200" b="0" dirty="0" err="1">
                <a:solidFill>
                  <a:schemeClr val="bg1"/>
                </a:solidFill>
              </a:rPr>
              <a:t>ot</a:t>
            </a:r>
            <a:r>
              <a:rPr lang="en-ID" sz="1200" b="0" dirty="0">
                <a:solidFill>
                  <a:schemeClr val="bg1"/>
                </a:solidFill>
              </a:rPr>
              <a:t>, </a:t>
            </a:r>
            <a:r>
              <a:rPr lang="en-ID" sz="1200" b="0" dirty="0" err="1">
                <a:solidFill>
                  <a:schemeClr val="bg1"/>
                </a:solidFill>
              </a:rPr>
              <a:t>lat</a:t>
            </a:r>
            <a:r>
              <a:rPr lang="en-ID" sz="1200" b="0" dirty="0">
                <a:solidFill>
                  <a:schemeClr val="bg1"/>
                </a:solidFill>
              </a:rPr>
              <a:t>, </a:t>
            </a:r>
            <a:r>
              <a:rPr lang="en-ID" sz="1200" b="0" dirty="0" err="1">
                <a:solidFill>
                  <a:schemeClr val="bg1"/>
                </a:solidFill>
              </a:rPr>
              <a:t>lon</a:t>
            </a:r>
            <a:r>
              <a:rPr lang="en-ID" sz="1200" b="0" dirty="0">
                <a:solidFill>
                  <a:schemeClr val="bg1"/>
                </a:solidFill>
              </a:rPr>
              <a:t>, remark.</a:t>
            </a:r>
          </a:p>
          <a:p>
            <a:pPr algn="just">
              <a:lnSpc>
                <a:spcPct val="150000"/>
              </a:lnSpc>
            </a:pPr>
            <a:r>
              <a:rPr lang="en-ID" sz="1200" b="0" dirty="0">
                <a:solidFill>
                  <a:schemeClr val="bg1"/>
                </a:solidFill>
              </a:rPr>
              <a:t>2. </a:t>
            </a:r>
            <a:r>
              <a:rPr lang="en-ID" sz="1200" b="0" dirty="0" err="1">
                <a:solidFill>
                  <a:schemeClr val="bg1"/>
                </a:solidFill>
              </a:rPr>
              <a:t>Metrik</a:t>
            </a:r>
            <a:r>
              <a:rPr lang="en-ID" sz="1200" b="0" dirty="0">
                <a:solidFill>
                  <a:schemeClr val="bg1"/>
                </a:solidFill>
              </a:rPr>
              <a:t> </a:t>
            </a:r>
            <a:r>
              <a:rPr lang="en-ID" sz="1200" b="0" dirty="0" err="1">
                <a:solidFill>
                  <a:schemeClr val="bg1"/>
                </a:solidFill>
              </a:rPr>
              <a:t>Fisik</a:t>
            </a:r>
            <a:r>
              <a:rPr lang="en-ID" sz="1200" b="0" dirty="0">
                <a:solidFill>
                  <a:schemeClr val="bg1"/>
                </a:solidFill>
              </a:rPr>
              <a:t>: mag, depth.</a:t>
            </a:r>
          </a:p>
          <a:p>
            <a:pPr algn="just">
              <a:lnSpc>
                <a:spcPct val="150000"/>
              </a:lnSpc>
            </a:pPr>
            <a:r>
              <a:rPr lang="en-ID" sz="1200" b="0" dirty="0">
                <a:solidFill>
                  <a:schemeClr val="bg1"/>
                </a:solidFill>
              </a:rPr>
              <a:t>3. Parameter </a:t>
            </a:r>
            <a:r>
              <a:rPr lang="en-ID" sz="1200" b="0" dirty="0" err="1">
                <a:solidFill>
                  <a:schemeClr val="bg1"/>
                </a:solidFill>
              </a:rPr>
              <a:t>Tektonik</a:t>
            </a:r>
            <a:r>
              <a:rPr lang="en-ID" sz="1200" b="0" dirty="0">
                <a:solidFill>
                  <a:schemeClr val="bg1"/>
                </a:solidFill>
              </a:rPr>
              <a:t>: strike, dip, rake (1 &amp; 2).</a:t>
            </a:r>
            <a:endParaRPr lang="en-ID" sz="1200" b="0" dirty="0">
              <a:solidFill>
                <a:schemeClr val="bg1"/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6888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465FD1E0-BBE3-E4F6-A0B0-973E33A1E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4C72E1-F015-69CB-9C8E-8716E2DB0F16}"/>
              </a:ext>
            </a:extLst>
          </p:cNvPr>
          <p:cNvSpPr txBox="1"/>
          <p:nvPr/>
        </p:nvSpPr>
        <p:spPr>
          <a:xfrm>
            <a:off x="3648532" y="274321"/>
            <a:ext cx="1846931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2000" dirty="0" err="1">
                <a:solidFill>
                  <a:schemeClr val="bg1"/>
                </a:solidFill>
              </a:rPr>
              <a:t>Deskripsi</a:t>
            </a:r>
            <a:r>
              <a:rPr lang="en-ID" sz="2000" dirty="0">
                <a:solidFill>
                  <a:schemeClr val="bg1"/>
                </a:solidFill>
              </a:rPr>
              <a:t>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A67A228-0FBB-E301-38EC-9E3E322E3B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630" y="2389747"/>
            <a:ext cx="1552265" cy="522596"/>
          </a:xfrm>
          <a:prstGeom prst="rect">
            <a:avLst/>
          </a:prstGeom>
        </p:spPr>
      </p:pic>
      <p:pic>
        <p:nvPicPr>
          <p:cNvPr id="2050" name="Picture 2" descr="Google Looker Studio - Insight Platforms">
            <a:extLst>
              <a:ext uri="{FF2B5EF4-FFF2-40B4-BE49-F238E27FC236}">
                <a16:creationId xmlns:a16="http://schemas.microsoft.com/office/drawing/2014/main" id="{65F7F555-7D34-8AF5-398F-A7C220F9043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246" b="36920"/>
          <a:stretch>
            <a:fillRect/>
          </a:stretch>
        </p:blipFill>
        <p:spPr bwMode="auto">
          <a:xfrm>
            <a:off x="2072837" y="2464882"/>
            <a:ext cx="1674728" cy="399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andas - Python Data Analysis Library">
            <a:extLst>
              <a:ext uri="{FF2B5EF4-FFF2-40B4-BE49-F238E27FC236}">
                <a16:creationId xmlns:a16="http://schemas.microsoft.com/office/drawing/2014/main" id="{962FAD75-589C-C039-869C-3A774F0FFD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226" y="2278872"/>
            <a:ext cx="923704" cy="65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Matplotlib">
            <a:extLst>
              <a:ext uri="{FF2B5EF4-FFF2-40B4-BE49-F238E27FC236}">
                <a16:creationId xmlns:a16="http://schemas.microsoft.com/office/drawing/2014/main" id="{9DD167AC-859A-2A17-205E-6E04D927BB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4869" y="2231156"/>
            <a:ext cx="681187" cy="681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iting and logo — seaborn 0.13.2 documentation">
            <a:extLst>
              <a:ext uri="{FF2B5EF4-FFF2-40B4-BE49-F238E27FC236}">
                <a16:creationId xmlns:a16="http://schemas.microsoft.com/office/drawing/2014/main" id="{2AAAAD25-FA0E-6CFA-FFC9-DD7C07C64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3995" y="2062499"/>
            <a:ext cx="725193" cy="870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What is Plotly Express and its methods?">
            <a:extLst>
              <a:ext uri="{FF2B5EF4-FFF2-40B4-BE49-F238E27FC236}">
                <a16:creationId xmlns:a16="http://schemas.microsoft.com/office/drawing/2014/main" id="{10FBB723-74E3-73EF-246E-AE7108932F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8986" y="2399530"/>
            <a:ext cx="1460399" cy="412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5F0993-9715-8C29-E964-233D0D0E7B06}"/>
              </a:ext>
            </a:extLst>
          </p:cNvPr>
          <p:cNvSpPr txBox="1"/>
          <p:nvPr/>
        </p:nvSpPr>
        <p:spPr>
          <a:xfrm>
            <a:off x="3695432" y="1312921"/>
            <a:ext cx="1753130" cy="4243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1600" dirty="0">
                <a:solidFill>
                  <a:schemeClr val="bg1"/>
                </a:solidFill>
              </a:rPr>
              <a:t>Tools dan Library</a:t>
            </a:r>
            <a:endParaRPr lang="en-ID" sz="1600" dirty="0">
              <a:solidFill>
                <a:schemeClr val="bg1"/>
              </a:solidFill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7897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>
          <a:extLst>
            <a:ext uri="{FF2B5EF4-FFF2-40B4-BE49-F238E27FC236}">
              <a16:creationId xmlns:a16="http://schemas.microsoft.com/office/drawing/2014/main" id="{A78FB815-346D-D275-4DB0-ADD5AFA2B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23C3DD-CBF6-ED8E-23F5-B4D17A6F2337}"/>
              </a:ext>
            </a:extLst>
          </p:cNvPr>
          <p:cNvSpPr txBox="1"/>
          <p:nvPr/>
        </p:nvSpPr>
        <p:spPr>
          <a:xfrm>
            <a:off x="3648532" y="274321"/>
            <a:ext cx="1846931" cy="496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2000" dirty="0" err="1">
                <a:solidFill>
                  <a:schemeClr val="bg1"/>
                </a:solidFill>
              </a:rPr>
              <a:t>Deskripsi</a:t>
            </a:r>
            <a:r>
              <a:rPr lang="en-ID" sz="2000" dirty="0">
                <a:solidFill>
                  <a:schemeClr val="bg1"/>
                </a:solidFill>
              </a:rPr>
              <a:t> Data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7A0782-D2F0-AD43-AC55-0624F8FDF493}"/>
              </a:ext>
            </a:extLst>
          </p:cNvPr>
          <p:cNvSpPr txBox="1"/>
          <p:nvPr/>
        </p:nvSpPr>
        <p:spPr>
          <a:xfrm>
            <a:off x="876561" y="1063648"/>
            <a:ext cx="7390876" cy="33821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1200" dirty="0">
                <a:solidFill>
                  <a:schemeClr val="bg1"/>
                </a:solidFill>
              </a:rPr>
              <a:t>Data Cleaning &amp; Feature Engineering</a:t>
            </a:r>
          </a:p>
          <a:p>
            <a:pPr algn="just">
              <a:lnSpc>
                <a:spcPct val="150000"/>
              </a:lnSpc>
            </a:pPr>
            <a:r>
              <a:rPr lang="en-ID" sz="1200" dirty="0">
                <a:solidFill>
                  <a:schemeClr val="bg1"/>
                </a:solidFill>
              </a:rPr>
              <a:t>Pada </a:t>
            </a:r>
            <a:r>
              <a:rPr lang="en-ID" sz="1200" dirty="0" err="1">
                <a:solidFill>
                  <a:schemeClr val="bg1"/>
                </a:solidFill>
              </a:rPr>
              <a:t>tahap</a:t>
            </a:r>
            <a:r>
              <a:rPr lang="en-ID" sz="1200" dirty="0">
                <a:solidFill>
                  <a:schemeClr val="bg1"/>
                </a:solidFill>
              </a:rPr>
              <a:t> data cleaning, </a:t>
            </a:r>
            <a:r>
              <a:rPr lang="en-ID" sz="1200" dirty="0" err="1">
                <a:solidFill>
                  <a:schemeClr val="bg1"/>
                </a:solidFill>
              </a:rPr>
              <a:t>dilakukan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beberapa</a:t>
            </a:r>
            <a:r>
              <a:rPr lang="en-ID" sz="1200" dirty="0">
                <a:solidFill>
                  <a:schemeClr val="bg1"/>
                </a:solidFill>
              </a:rPr>
              <a:t> proses </a:t>
            </a:r>
            <a:r>
              <a:rPr lang="en-ID" sz="1200" dirty="0" err="1">
                <a:solidFill>
                  <a:schemeClr val="bg1"/>
                </a:solidFill>
              </a:rPr>
              <a:t>utama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untuk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menyiapkan</a:t>
            </a:r>
            <a:r>
              <a:rPr lang="en-ID" sz="1200" dirty="0">
                <a:solidFill>
                  <a:schemeClr val="bg1"/>
                </a:solidFill>
              </a:rPr>
              <a:t> data </a:t>
            </a:r>
            <a:r>
              <a:rPr lang="en-ID" sz="1200" dirty="0" err="1">
                <a:solidFill>
                  <a:schemeClr val="bg1"/>
                </a:solidFill>
              </a:rPr>
              <a:t>gempa</a:t>
            </a:r>
            <a:r>
              <a:rPr lang="en-ID" sz="1200" dirty="0">
                <a:solidFill>
                  <a:schemeClr val="bg1"/>
                </a:solidFill>
              </a:rPr>
              <a:t> agar </a:t>
            </a:r>
            <a:r>
              <a:rPr lang="en-ID" sz="1200" dirty="0" err="1">
                <a:solidFill>
                  <a:schemeClr val="bg1"/>
                </a:solidFill>
              </a:rPr>
              <a:t>siap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dianalisis</a:t>
            </a:r>
            <a:r>
              <a:rPr lang="en-ID" sz="1200" dirty="0">
                <a:solidFill>
                  <a:schemeClr val="bg1"/>
                </a:solidFill>
              </a:rPr>
              <a:t> dan </a:t>
            </a:r>
            <a:r>
              <a:rPr lang="en-ID" sz="1200" dirty="0" err="1">
                <a:solidFill>
                  <a:schemeClr val="bg1"/>
                </a:solidFill>
              </a:rPr>
              <a:t>divisualisasikan</a:t>
            </a:r>
            <a:r>
              <a:rPr lang="en-ID" sz="1200" dirty="0">
                <a:solidFill>
                  <a:schemeClr val="bg1"/>
                </a:solidFill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ID" sz="1200" dirty="0">
                <a:solidFill>
                  <a:schemeClr val="bg1"/>
                </a:solidFill>
              </a:rPr>
              <a:t>1. </a:t>
            </a:r>
            <a:r>
              <a:rPr lang="en-ID" sz="1200" dirty="0" err="1">
                <a:solidFill>
                  <a:schemeClr val="bg1"/>
                </a:solidFill>
              </a:rPr>
              <a:t>Penghapusan</a:t>
            </a:r>
            <a:r>
              <a:rPr lang="en-ID" sz="1200" dirty="0">
                <a:solidFill>
                  <a:schemeClr val="bg1"/>
                </a:solidFill>
              </a:rPr>
              <a:t> Kolom Tidak </a:t>
            </a:r>
            <a:r>
              <a:rPr lang="en-ID" sz="1200" dirty="0" err="1">
                <a:solidFill>
                  <a:schemeClr val="bg1"/>
                </a:solidFill>
              </a:rPr>
              <a:t>Relevan</a:t>
            </a:r>
            <a:endParaRPr lang="en-ID" sz="1200" dirty="0">
              <a:solidFill>
                <a:schemeClr val="bg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ID" sz="1200" dirty="0" err="1">
                <a:solidFill>
                  <a:schemeClr val="bg1"/>
                </a:solidFill>
              </a:rPr>
              <a:t>Menghapus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kolom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teknis</a:t>
            </a:r>
            <a:r>
              <a:rPr lang="en-ID" sz="1200" dirty="0">
                <a:solidFill>
                  <a:schemeClr val="bg1"/>
                </a:solidFill>
              </a:rPr>
              <a:t> (strike, dip, rake) yang </a:t>
            </a:r>
            <a:r>
              <a:rPr lang="en-ID" sz="1200" dirty="0" err="1">
                <a:solidFill>
                  <a:schemeClr val="bg1"/>
                </a:solidFill>
              </a:rPr>
              <a:t>tidak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digunakan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dalam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analisis</a:t>
            </a:r>
            <a:r>
              <a:rPr lang="en-ID" sz="1200" dirty="0">
                <a:solidFill>
                  <a:schemeClr val="bg1"/>
                </a:solidFill>
              </a:rPr>
              <a:t> agar dataset </a:t>
            </a:r>
            <a:r>
              <a:rPr lang="en-ID" sz="1200" dirty="0" err="1">
                <a:solidFill>
                  <a:schemeClr val="bg1"/>
                </a:solidFill>
              </a:rPr>
              <a:t>lebih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ringkas</a:t>
            </a:r>
            <a:r>
              <a:rPr lang="en-ID" sz="1200" dirty="0">
                <a:solidFill>
                  <a:schemeClr val="bg1"/>
                </a:solidFill>
              </a:rPr>
              <a:t> dan </a:t>
            </a:r>
            <a:r>
              <a:rPr lang="en-ID" sz="1200" dirty="0" err="1">
                <a:solidFill>
                  <a:schemeClr val="bg1"/>
                </a:solidFill>
              </a:rPr>
              <a:t>fokus</a:t>
            </a:r>
            <a:r>
              <a:rPr lang="en-ID" sz="120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D" sz="1200" dirty="0">
                <a:solidFill>
                  <a:schemeClr val="bg1"/>
                </a:solidFill>
              </a:rPr>
              <a:t>2. </a:t>
            </a:r>
            <a:r>
              <a:rPr lang="en-ID" sz="1200" dirty="0" err="1">
                <a:solidFill>
                  <a:schemeClr val="bg1"/>
                </a:solidFill>
              </a:rPr>
              <a:t>Standarisasi</a:t>
            </a:r>
            <a:r>
              <a:rPr lang="en-ID" sz="1200" dirty="0">
                <a:solidFill>
                  <a:schemeClr val="bg1"/>
                </a:solidFill>
              </a:rPr>
              <a:t> Waktu </a:t>
            </a:r>
            <a:r>
              <a:rPr lang="en-ID" sz="1200" dirty="0" err="1">
                <a:solidFill>
                  <a:schemeClr val="bg1"/>
                </a:solidFill>
              </a:rPr>
              <a:t>Kejadian</a:t>
            </a:r>
            <a:endParaRPr lang="en-ID" sz="1200" dirty="0">
              <a:solidFill>
                <a:schemeClr val="bg1"/>
              </a:solidFill>
            </a:endParaRPr>
          </a:p>
          <a:p>
            <a:pPr algn="just">
              <a:lnSpc>
                <a:spcPct val="150000"/>
              </a:lnSpc>
            </a:pPr>
            <a:r>
              <a:rPr lang="en-ID" sz="1200" dirty="0" err="1">
                <a:solidFill>
                  <a:schemeClr val="bg1"/>
                </a:solidFill>
              </a:rPr>
              <a:t>Menggabungkan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kolom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tanggal</a:t>
            </a:r>
            <a:r>
              <a:rPr lang="en-ID" sz="1200" dirty="0">
                <a:solidFill>
                  <a:schemeClr val="bg1"/>
                </a:solidFill>
              </a:rPr>
              <a:t> (</a:t>
            </a:r>
            <a:r>
              <a:rPr lang="en-ID" sz="1200" dirty="0" err="1">
                <a:solidFill>
                  <a:schemeClr val="bg1"/>
                </a:solidFill>
              </a:rPr>
              <a:t>tgl</a:t>
            </a:r>
            <a:r>
              <a:rPr lang="en-ID" sz="1200" dirty="0">
                <a:solidFill>
                  <a:schemeClr val="bg1"/>
                </a:solidFill>
              </a:rPr>
              <a:t>) dan </a:t>
            </a:r>
            <a:r>
              <a:rPr lang="en-ID" sz="1200" dirty="0" err="1">
                <a:solidFill>
                  <a:schemeClr val="bg1"/>
                </a:solidFill>
              </a:rPr>
              <a:t>waktu</a:t>
            </a:r>
            <a:r>
              <a:rPr lang="en-ID" sz="1200" dirty="0">
                <a:solidFill>
                  <a:schemeClr val="bg1"/>
                </a:solidFill>
              </a:rPr>
              <a:t> (</a:t>
            </a:r>
            <a:r>
              <a:rPr lang="en-ID" sz="1200" dirty="0" err="1">
                <a:solidFill>
                  <a:schemeClr val="bg1"/>
                </a:solidFill>
              </a:rPr>
              <a:t>ot</a:t>
            </a:r>
            <a:r>
              <a:rPr lang="en-ID" sz="1200" dirty="0">
                <a:solidFill>
                  <a:schemeClr val="bg1"/>
                </a:solidFill>
              </a:rPr>
              <a:t>) </a:t>
            </a:r>
            <a:r>
              <a:rPr lang="en-ID" sz="1200" dirty="0" err="1">
                <a:solidFill>
                  <a:schemeClr val="bg1"/>
                </a:solidFill>
              </a:rPr>
              <a:t>menjadi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satu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kolom</a:t>
            </a:r>
            <a:r>
              <a:rPr lang="en-ID" sz="1200" dirty="0">
                <a:solidFill>
                  <a:schemeClr val="bg1"/>
                </a:solidFill>
              </a:rPr>
              <a:t> datetime </a:t>
            </a:r>
            <a:r>
              <a:rPr lang="en-ID" sz="1200" dirty="0" err="1">
                <a:solidFill>
                  <a:schemeClr val="bg1"/>
                </a:solidFill>
              </a:rPr>
              <a:t>untuk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memudahkan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analisis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berbasis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waktu</a:t>
            </a:r>
            <a:r>
              <a:rPr lang="en-ID" sz="1200" dirty="0">
                <a:solidFill>
                  <a:schemeClr val="bg1"/>
                </a:solidFill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ID" sz="1200" dirty="0">
                <a:solidFill>
                  <a:schemeClr val="bg1"/>
                </a:solidFill>
              </a:rPr>
              <a:t>3. </a:t>
            </a:r>
            <a:r>
              <a:rPr lang="en-ID" sz="1200" dirty="0" err="1">
                <a:solidFill>
                  <a:schemeClr val="bg1"/>
                </a:solidFill>
              </a:rPr>
              <a:t>Ekstraksi</a:t>
            </a:r>
            <a:r>
              <a:rPr lang="en-ID" sz="1200" dirty="0">
                <a:solidFill>
                  <a:schemeClr val="bg1"/>
                </a:solidFill>
              </a:rPr>
              <a:t> Fitur Waktu</a:t>
            </a:r>
          </a:p>
          <a:p>
            <a:pPr algn="just">
              <a:lnSpc>
                <a:spcPct val="150000"/>
              </a:lnSpc>
            </a:pPr>
            <a:r>
              <a:rPr lang="en-ID" sz="1200" dirty="0" err="1">
                <a:solidFill>
                  <a:schemeClr val="bg1"/>
                </a:solidFill>
              </a:rPr>
              <a:t>Menurunkan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atribut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waktu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seperti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tahun</a:t>
            </a:r>
            <a:r>
              <a:rPr lang="en-ID" sz="1200" dirty="0">
                <a:solidFill>
                  <a:schemeClr val="bg1"/>
                </a:solidFill>
              </a:rPr>
              <a:t>, </a:t>
            </a:r>
            <a:r>
              <a:rPr lang="en-ID" sz="1200" dirty="0" err="1">
                <a:solidFill>
                  <a:schemeClr val="bg1"/>
                </a:solidFill>
              </a:rPr>
              <a:t>bulan</a:t>
            </a:r>
            <a:r>
              <a:rPr lang="en-ID" sz="1200" dirty="0">
                <a:solidFill>
                  <a:schemeClr val="bg1"/>
                </a:solidFill>
              </a:rPr>
              <a:t>, </a:t>
            </a:r>
            <a:r>
              <a:rPr lang="en-ID" sz="1200" dirty="0" err="1">
                <a:solidFill>
                  <a:schemeClr val="bg1"/>
                </a:solidFill>
              </a:rPr>
              <a:t>hari</a:t>
            </a:r>
            <a:r>
              <a:rPr lang="en-ID" sz="1200" dirty="0">
                <a:solidFill>
                  <a:schemeClr val="bg1"/>
                </a:solidFill>
              </a:rPr>
              <a:t>, jam, dan </a:t>
            </a:r>
            <a:r>
              <a:rPr lang="en-ID" sz="1200" dirty="0" err="1">
                <a:solidFill>
                  <a:schemeClr val="bg1"/>
                </a:solidFill>
              </a:rPr>
              <a:t>hari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dalam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minggu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untuk</a:t>
            </a:r>
            <a:r>
              <a:rPr lang="en-ID" sz="1200" dirty="0">
                <a:solidFill>
                  <a:schemeClr val="bg1"/>
                </a:solidFill>
              </a:rPr>
              <a:t> </a:t>
            </a:r>
            <a:r>
              <a:rPr lang="en-ID" sz="1200" dirty="0" err="1">
                <a:solidFill>
                  <a:schemeClr val="bg1"/>
                </a:solidFill>
              </a:rPr>
              <a:t>analisis</a:t>
            </a:r>
            <a:r>
              <a:rPr lang="en-ID" sz="1200" dirty="0">
                <a:solidFill>
                  <a:schemeClr val="bg1"/>
                </a:solidFill>
              </a:rPr>
              <a:t> temporal (per jam, </a:t>
            </a:r>
            <a:r>
              <a:rPr lang="en-ID" sz="1200" dirty="0" err="1">
                <a:solidFill>
                  <a:schemeClr val="bg1"/>
                </a:solidFill>
              </a:rPr>
              <a:t>hari</a:t>
            </a:r>
            <a:r>
              <a:rPr lang="en-ID" sz="1200" dirty="0">
                <a:solidFill>
                  <a:schemeClr val="bg1"/>
                </a:solidFill>
              </a:rPr>
              <a:t>, dan </a:t>
            </a:r>
            <a:r>
              <a:rPr lang="en-ID" sz="1200" dirty="0" err="1">
                <a:solidFill>
                  <a:schemeClr val="bg1"/>
                </a:solidFill>
              </a:rPr>
              <a:t>bulan</a:t>
            </a:r>
            <a:r>
              <a:rPr lang="en-ID" sz="1200" dirty="0">
                <a:solidFill>
                  <a:schemeClr val="bg1"/>
                </a:solidFill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47609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B752FD-E330-229A-6330-BBA497C040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497" y="1130161"/>
            <a:ext cx="6306207" cy="1283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C1013DD-B091-8214-AC04-504C7E2CE2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497" y="3035078"/>
            <a:ext cx="4338670" cy="14624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A356A8-F0D5-4D22-1F51-6605E8CAD4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167" y="3035078"/>
            <a:ext cx="1934187" cy="146247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52FAE63-8E43-143D-7D6A-A5433C452FAB}"/>
              </a:ext>
            </a:extLst>
          </p:cNvPr>
          <p:cNvSpPr txBox="1"/>
          <p:nvPr/>
        </p:nvSpPr>
        <p:spPr>
          <a:xfrm>
            <a:off x="504497" y="645949"/>
            <a:ext cx="23230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Sebelum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Data Cleaning</a:t>
            </a:r>
            <a:endParaRPr lang="en-ID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05581A-DB5C-2A5E-EB3F-7E134BD8D98E}"/>
              </a:ext>
            </a:extLst>
          </p:cNvPr>
          <p:cNvSpPr txBox="1"/>
          <p:nvPr/>
        </p:nvSpPr>
        <p:spPr>
          <a:xfrm>
            <a:off x="504497" y="2590440"/>
            <a:ext cx="23134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Poppins" panose="00000500000000000000" pitchFamily="2" charset="0"/>
                <a:cs typeface="Poppins" panose="00000500000000000000" pitchFamily="2" charset="0"/>
              </a:rPr>
              <a:t>Sesudah</a:t>
            </a:r>
            <a:r>
              <a:rPr lang="en-US" dirty="0">
                <a:latin typeface="Poppins" panose="00000500000000000000" pitchFamily="2" charset="0"/>
                <a:cs typeface="Poppins" panose="00000500000000000000" pitchFamily="2" charset="0"/>
              </a:rPr>
              <a:t> Data Cleaning</a:t>
            </a:r>
            <a:endParaRPr lang="en-ID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61739069-68BC-9516-D0AD-FDBE915E91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C8E1A4B-5CA1-3E3D-F960-99045BFEA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23" y="809957"/>
            <a:ext cx="2898434" cy="176179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A13B17F-3A35-F897-76D8-9BCC6AF6F1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23" y="2641710"/>
            <a:ext cx="2898434" cy="178642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0A5285E-A2D7-AA73-CE89-100FA2BD0014}"/>
              </a:ext>
            </a:extLst>
          </p:cNvPr>
          <p:cNvSpPr txBox="1"/>
          <p:nvPr/>
        </p:nvSpPr>
        <p:spPr>
          <a:xfrm>
            <a:off x="3726967" y="809957"/>
            <a:ext cx="5215234" cy="39441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(Siang Hari): 47,7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ribu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kejadian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Rata-rata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48,9 km di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bawah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permukaan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bumi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Maksimum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750 km.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Minimum: 2 km.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Dominasi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71,1%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kategori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Ringan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Dominasi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: 73,6%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kategori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Sangat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Dangkal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(&lt;50 km).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Sebaran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Lain: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Kategori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Mikro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sebesar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17,9%,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Moderat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10,7%, dan Sangat Kuat 0,2%.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Sebaran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Lain: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Kategori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Menengah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(70-300 km)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sebesar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18,3% dan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kategori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Dalam (&gt;300 km)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sebesar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8,1%.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Hubungan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Utama: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paling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banyak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kondisi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Sangat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Dangkal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Ringan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mencapai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47.576 data).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72507B8-D820-E2A6-62AA-BAACB039AB37}"/>
              </a:ext>
            </a:extLst>
          </p:cNvPr>
          <p:cNvSpPr txBox="1"/>
          <p:nvPr/>
        </p:nvSpPr>
        <p:spPr>
          <a:xfrm>
            <a:off x="1494571" y="64820"/>
            <a:ext cx="5697748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Analisis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Deskriptif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Aktivitas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Seismik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Tahun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2008–2023</a:t>
            </a:r>
          </a:p>
        </p:txBody>
      </p:sp>
    </p:spTree>
    <p:extLst>
      <p:ext uri="{BB962C8B-B14F-4D97-AF65-F5344CB8AC3E}">
        <p14:creationId xmlns:p14="http://schemas.microsoft.com/office/powerpoint/2010/main" val="344787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94D78276-0BA0-B005-7E68-AFA7C1BEA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7239BCAC-6025-679D-6BE9-A59A97703423}"/>
              </a:ext>
            </a:extLst>
          </p:cNvPr>
          <p:cNvSpPr txBox="1"/>
          <p:nvPr/>
        </p:nvSpPr>
        <p:spPr>
          <a:xfrm>
            <a:off x="3726967" y="809957"/>
            <a:ext cx="5215234" cy="3390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Total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kejadian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kategori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filter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siang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hari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47,7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ribu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kejadian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Rata-rata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berada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angka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48,9 km di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bawah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permukaan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bumi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pusat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terdalam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mencapai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750 km,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sementara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yang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terdampar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berada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di 2 km.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Sebanyak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71,1%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total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tergolong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kategori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Ringan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Sebanyak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73,6%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total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Sangat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Dangkal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(&lt;50 km).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Kombinasi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kejadian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yang paling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sering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ber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Ringan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Sangat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Dangkal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9CAB61-43BC-363A-0D1D-E608A3E91576}"/>
              </a:ext>
            </a:extLst>
          </p:cNvPr>
          <p:cNvSpPr txBox="1"/>
          <p:nvPr/>
        </p:nvSpPr>
        <p:spPr>
          <a:xfrm>
            <a:off x="1494571" y="64820"/>
            <a:ext cx="5697748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Analisis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Deskriptif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Aktivitas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Seismik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Tahun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2008–2023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5AAFEEC-6DDB-8BBC-C47F-091597A71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523" y="809957"/>
            <a:ext cx="2898434" cy="16946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CC4965-078C-8259-ED1A-13E798F654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523" y="2638932"/>
            <a:ext cx="2898434" cy="1723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194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BDEC1AE0-7C2A-884E-2C7D-126CD36DA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E145062-4835-F4BA-ED81-8F574D6DF397}"/>
              </a:ext>
            </a:extLst>
          </p:cNvPr>
          <p:cNvSpPr txBox="1"/>
          <p:nvPr/>
        </p:nvSpPr>
        <p:spPr>
          <a:xfrm>
            <a:off x="832419" y="1598233"/>
            <a:ext cx="7964740" cy="11741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empa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rata-rata/jam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berjumlah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1.9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empa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rata-rata/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hari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berjumlah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22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empa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rata-rata/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bulan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berjumlah</a:t>
            </a:r>
            <a:r>
              <a:rPr lang="en-ID" sz="12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590</a:t>
            </a: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D" sz="1200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97AAB11-8143-92A0-8454-8C37F22C8639}"/>
              </a:ext>
            </a:extLst>
          </p:cNvPr>
          <p:cNvSpPr txBox="1"/>
          <p:nvPr/>
        </p:nvSpPr>
        <p:spPr>
          <a:xfrm>
            <a:off x="1494571" y="64820"/>
            <a:ext cx="5697748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Analisis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Deskriptif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Aktivitas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Seismik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Tahun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2008–2023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D9FC3-A907-442B-2D60-D071428F6C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7626" y="809957"/>
            <a:ext cx="4391638" cy="74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0558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34244F2B-D914-554F-29D3-68D62984D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C787CB00-7521-AF92-69E8-BD2FB9E932D6}"/>
              </a:ext>
            </a:extLst>
          </p:cNvPr>
          <p:cNvSpPr txBox="1"/>
          <p:nvPr/>
        </p:nvSpPr>
        <p:spPr>
          <a:xfrm>
            <a:off x="3726967" y="809957"/>
            <a:ext cx="5215234" cy="3115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1. Rata-Rata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per Jam</a:t>
            </a:r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Aktivitas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tertinggi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pada sore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hari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sekitar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pukul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16.00–19.00).</a:t>
            </a:r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Aktivitas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terendah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dini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hari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terutama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sekitar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pukul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01.00.</a:t>
            </a:r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Terlihat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tren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peningkatan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frekuensi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pagi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menjelang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sore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hari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lvl="0" algn="just">
              <a:lnSpc>
                <a:spcPct val="150000"/>
              </a:lnSpc>
            </a:pP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2. Rata-Rata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per Bulan</a:t>
            </a:r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Bulan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aktivitas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tertinggi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Desember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diikuti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Januari dan Agustus.</a:t>
            </a:r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Aktivitas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terendah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tercatat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bulan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Mei dan Juni.</a:t>
            </a:r>
          </a:p>
          <a:p>
            <a:pPr lvl="0" algn="just">
              <a:lnSpc>
                <a:spcPct val="150000"/>
              </a:lnSpc>
            </a:pP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3. Rata-Rata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per Hari</a:t>
            </a:r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Frekuensi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relatif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merata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sepanjang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minggu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Senin dan Selasa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sedikit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tinggi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dibanding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hari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lain.</a:t>
            </a:r>
          </a:p>
          <a:p>
            <a:pPr marL="171450" lvl="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Sabtu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menjadi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hari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jumlah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paling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rendah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AF0B33A-C72C-1CAD-F2F7-7AA4C9D9023B}"/>
              </a:ext>
            </a:extLst>
          </p:cNvPr>
          <p:cNvSpPr txBox="1"/>
          <p:nvPr/>
        </p:nvSpPr>
        <p:spPr>
          <a:xfrm>
            <a:off x="1463040" y="77432"/>
            <a:ext cx="6022427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Distribusi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Aktivitas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Gempabumi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Berdasarkan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Siklus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Waktu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FDEF77-8317-A8D5-1694-6FEEEC5A0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43" y="809957"/>
            <a:ext cx="3619371" cy="239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9809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BDB991ED-6A23-13BE-0767-CAB2C5C7AD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D9C147E-6072-B36D-D06B-333549543756}"/>
              </a:ext>
            </a:extLst>
          </p:cNvPr>
          <p:cNvSpPr txBox="1"/>
          <p:nvPr/>
        </p:nvSpPr>
        <p:spPr>
          <a:xfrm>
            <a:off x="3726967" y="809957"/>
            <a:ext cx="5215234" cy="3422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1. Rata-Rata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per Jam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relatif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stabil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kisaran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3,5–4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sepanjang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hari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Nilai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tertinggi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muncul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tipis pada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pukul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01.00 dan 08.00,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terendah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sekitar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pukul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20.00.</a:t>
            </a:r>
          </a:p>
          <a:p>
            <a:pPr>
              <a:lnSpc>
                <a:spcPct val="150000"/>
              </a:lnSpc>
            </a:pP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2. Rata-Rata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per Bulan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Rata-rata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bulanan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konsisten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atas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3,5.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Januari,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Februari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, Juli, dan Agustus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sedikit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tinggi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sementara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November paling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rendah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3. Rata-Rata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per Hari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Tidak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terdapat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perbedaan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signifikan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antar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hari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(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rentang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3,5–4).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Sabtu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tertinggi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dan Jumat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terendah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E7EB13-630A-E6C3-833D-E81961B34AD2}"/>
              </a:ext>
            </a:extLst>
          </p:cNvPr>
          <p:cNvSpPr txBox="1"/>
          <p:nvPr/>
        </p:nvSpPr>
        <p:spPr>
          <a:xfrm>
            <a:off x="1463040" y="77432"/>
            <a:ext cx="6022427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Distribusi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Aktivitas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Berdasarkan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Siklus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Waktu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E07D8F-654E-5C4E-8033-816D85FA61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24" y="809957"/>
            <a:ext cx="3600843" cy="240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29445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11B85953-A475-C8B7-E120-4E7BE6749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D555613-A54C-B7B0-8EDA-F5B92108DB68}"/>
              </a:ext>
            </a:extLst>
          </p:cNvPr>
          <p:cNvSpPr txBox="1"/>
          <p:nvPr/>
        </p:nvSpPr>
        <p:spPr>
          <a:xfrm>
            <a:off x="3726967" y="809957"/>
            <a:ext cx="5215234" cy="3105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200" dirty="0"/>
              <a:t>1. Rata-Rata </a:t>
            </a:r>
            <a:r>
              <a:rPr lang="en-ID" sz="1200" dirty="0" err="1"/>
              <a:t>Kedalaman</a:t>
            </a:r>
            <a:r>
              <a:rPr lang="en-ID" sz="1200" dirty="0"/>
              <a:t> per Jam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/>
              <a:t>Gempa</a:t>
            </a:r>
            <a:r>
              <a:rPr lang="en-ID" sz="1200" dirty="0"/>
              <a:t> </a:t>
            </a:r>
            <a:r>
              <a:rPr lang="en-ID" sz="1200" dirty="0" err="1"/>
              <a:t>terdalam</a:t>
            </a:r>
            <a:r>
              <a:rPr lang="en-ID" sz="1200" dirty="0"/>
              <a:t> </a:t>
            </a:r>
            <a:r>
              <a:rPr lang="en-ID" sz="1200" dirty="0" err="1"/>
              <a:t>terjadi</a:t>
            </a:r>
            <a:r>
              <a:rPr lang="en-ID" sz="1200" dirty="0"/>
              <a:t> </a:t>
            </a:r>
            <a:r>
              <a:rPr lang="en-ID" sz="1200" dirty="0" err="1"/>
              <a:t>pukul</a:t>
            </a:r>
            <a:r>
              <a:rPr lang="en-ID" sz="1200" dirty="0"/>
              <a:t> 16.00 dan 23.00 (±50 km).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/>
              <a:t>Gempa</a:t>
            </a:r>
            <a:r>
              <a:rPr lang="en-ID" sz="1200" dirty="0"/>
              <a:t> paling </a:t>
            </a:r>
            <a:r>
              <a:rPr lang="en-ID" sz="1200" dirty="0" err="1"/>
              <a:t>dangkal</a:t>
            </a:r>
            <a:r>
              <a:rPr lang="en-ID" sz="1200" dirty="0"/>
              <a:t> </a:t>
            </a:r>
            <a:r>
              <a:rPr lang="en-ID" sz="1200" dirty="0" err="1"/>
              <a:t>sekitar</a:t>
            </a:r>
            <a:r>
              <a:rPr lang="en-ID" sz="1200" dirty="0"/>
              <a:t> </a:t>
            </a:r>
            <a:r>
              <a:rPr lang="en-ID" sz="1200" dirty="0" err="1"/>
              <a:t>pukul</a:t>
            </a:r>
            <a:r>
              <a:rPr lang="en-ID" sz="1200" dirty="0"/>
              <a:t> 14.00 (&lt;45 km).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/>
              <a:t>Kedalaman</a:t>
            </a:r>
            <a:r>
              <a:rPr lang="en-ID" sz="1200" dirty="0"/>
              <a:t> </a:t>
            </a:r>
            <a:r>
              <a:rPr lang="en-ID" sz="1200" dirty="0" err="1"/>
              <a:t>cenderung</a:t>
            </a:r>
            <a:r>
              <a:rPr lang="en-ID" sz="1200" dirty="0"/>
              <a:t> </a:t>
            </a:r>
            <a:r>
              <a:rPr lang="en-ID" sz="1200" dirty="0" err="1"/>
              <a:t>meningkat</a:t>
            </a:r>
            <a:r>
              <a:rPr lang="en-ID" sz="1200" dirty="0"/>
              <a:t> </a:t>
            </a:r>
            <a:r>
              <a:rPr lang="en-ID" sz="1200" dirty="0" err="1"/>
              <a:t>menuju</a:t>
            </a:r>
            <a:r>
              <a:rPr lang="en-ID" sz="1200" dirty="0"/>
              <a:t> sore dan </a:t>
            </a:r>
            <a:r>
              <a:rPr lang="en-ID" sz="1200" dirty="0" err="1"/>
              <a:t>malam</a:t>
            </a:r>
            <a:r>
              <a:rPr lang="en-ID" sz="1200" dirty="0"/>
              <a:t>.</a:t>
            </a:r>
          </a:p>
          <a:p>
            <a:pPr>
              <a:lnSpc>
                <a:spcPct val="150000"/>
              </a:lnSpc>
            </a:pPr>
            <a:r>
              <a:rPr lang="en-ID" sz="1200" dirty="0"/>
              <a:t>2. Rata-Rata </a:t>
            </a:r>
            <a:r>
              <a:rPr lang="en-ID" sz="1200" dirty="0" err="1"/>
              <a:t>Kedalaman</a:t>
            </a:r>
            <a:r>
              <a:rPr lang="en-ID" sz="1200" dirty="0"/>
              <a:t> per Bulan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/>
              <a:t>Maret </a:t>
            </a:r>
            <a:r>
              <a:rPr lang="en-ID" sz="1200" dirty="0" err="1"/>
              <a:t>mencatat</a:t>
            </a:r>
            <a:r>
              <a:rPr lang="en-ID" sz="1200" dirty="0"/>
              <a:t> rata-rata </a:t>
            </a:r>
            <a:r>
              <a:rPr lang="en-ID" sz="1200" dirty="0" err="1"/>
              <a:t>kedalaman</a:t>
            </a:r>
            <a:r>
              <a:rPr lang="en-ID" sz="1200" dirty="0"/>
              <a:t> </a:t>
            </a:r>
            <a:r>
              <a:rPr lang="en-ID" sz="1200" dirty="0" err="1"/>
              <a:t>terdalam</a:t>
            </a:r>
            <a:r>
              <a:rPr lang="en-ID" sz="1200" dirty="0"/>
              <a:t> (&gt;50 km).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/>
              <a:t>September dan November </a:t>
            </a:r>
            <a:r>
              <a:rPr lang="en-ID" sz="1200" dirty="0" err="1"/>
              <a:t>menjadi</a:t>
            </a:r>
            <a:r>
              <a:rPr lang="en-ID" sz="1200" dirty="0"/>
              <a:t> </a:t>
            </a:r>
            <a:r>
              <a:rPr lang="en-ID" sz="1200" dirty="0" err="1"/>
              <a:t>bulan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gempa</a:t>
            </a:r>
            <a:r>
              <a:rPr lang="en-ID" sz="1200" dirty="0"/>
              <a:t> paling </a:t>
            </a:r>
            <a:r>
              <a:rPr lang="en-ID" sz="1200" dirty="0" err="1"/>
              <a:t>dangkal</a:t>
            </a:r>
            <a:r>
              <a:rPr lang="en-ID" sz="1200" dirty="0"/>
              <a:t> (&lt;45 km).</a:t>
            </a:r>
          </a:p>
          <a:p>
            <a:pPr>
              <a:lnSpc>
                <a:spcPct val="150000"/>
              </a:lnSpc>
            </a:pPr>
            <a:r>
              <a:rPr lang="en-ID" sz="1200" dirty="0"/>
              <a:t>3. Rata-Rata </a:t>
            </a:r>
            <a:r>
              <a:rPr lang="en-ID" sz="1200" dirty="0" err="1"/>
              <a:t>Kedalaman</a:t>
            </a:r>
            <a:r>
              <a:rPr lang="en-ID" sz="1200" dirty="0"/>
              <a:t> per Hari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/>
              <a:t>Kedalaman</a:t>
            </a:r>
            <a:r>
              <a:rPr lang="en-ID" sz="1200" dirty="0"/>
              <a:t> </a:t>
            </a:r>
            <a:r>
              <a:rPr lang="en-ID" sz="1200" dirty="0" err="1"/>
              <a:t>relatif</a:t>
            </a:r>
            <a:r>
              <a:rPr lang="en-ID" sz="1200" dirty="0"/>
              <a:t> </a:t>
            </a:r>
            <a:r>
              <a:rPr lang="en-ID" sz="1200" dirty="0" err="1"/>
              <a:t>merata</a:t>
            </a:r>
            <a:r>
              <a:rPr lang="en-ID" sz="1200" dirty="0"/>
              <a:t> </a:t>
            </a:r>
            <a:r>
              <a:rPr lang="en-ID" sz="1200" dirty="0" err="1"/>
              <a:t>sepanjang</a:t>
            </a:r>
            <a:r>
              <a:rPr lang="en-ID" sz="1200" dirty="0"/>
              <a:t> </a:t>
            </a:r>
            <a:r>
              <a:rPr lang="en-ID" sz="1200" dirty="0" err="1"/>
              <a:t>minggu</a:t>
            </a:r>
            <a:r>
              <a:rPr lang="en-ID" sz="1200" dirty="0"/>
              <a:t> (±48–50 km).</a:t>
            </a:r>
          </a:p>
          <a:p>
            <a:pPr marL="22860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/>
              <a:t>Jumat dan Sabtu </a:t>
            </a:r>
            <a:r>
              <a:rPr lang="en-ID" sz="1200" dirty="0" err="1"/>
              <a:t>sedikit</a:t>
            </a:r>
            <a:r>
              <a:rPr lang="en-ID" sz="1200" dirty="0"/>
              <a:t> </a:t>
            </a:r>
            <a:r>
              <a:rPr lang="en-ID" sz="1200" dirty="0" err="1"/>
              <a:t>lebih</a:t>
            </a:r>
            <a:r>
              <a:rPr lang="en-ID" sz="1200" dirty="0"/>
              <a:t> </a:t>
            </a:r>
            <a:r>
              <a:rPr lang="en-ID" sz="1200" dirty="0" err="1"/>
              <a:t>dalam</a:t>
            </a:r>
            <a:r>
              <a:rPr lang="en-ID" sz="1200" dirty="0"/>
              <a:t> </a:t>
            </a:r>
            <a:r>
              <a:rPr lang="en-ID" sz="1200" dirty="0" err="1"/>
              <a:t>dibanding</a:t>
            </a:r>
            <a:r>
              <a:rPr lang="en-ID" sz="1200" dirty="0"/>
              <a:t> </a:t>
            </a:r>
            <a:r>
              <a:rPr lang="en-ID" sz="1200" dirty="0" err="1"/>
              <a:t>hari</a:t>
            </a:r>
            <a:r>
              <a:rPr lang="en-ID" sz="1200" dirty="0"/>
              <a:t> </a:t>
            </a:r>
            <a:r>
              <a:rPr lang="en-ID" sz="1200" dirty="0" err="1"/>
              <a:t>lainnya</a:t>
            </a:r>
            <a:r>
              <a:rPr lang="en-ID" sz="1200"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07EEEB-5E84-1B8B-59D4-E79200EFD0B3}"/>
              </a:ext>
            </a:extLst>
          </p:cNvPr>
          <p:cNvSpPr txBox="1"/>
          <p:nvPr/>
        </p:nvSpPr>
        <p:spPr>
          <a:xfrm>
            <a:off x="1463040" y="77432"/>
            <a:ext cx="6022427" cy="4267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Distribusi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Aktivitas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Berdasarkan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600" dirty="0" err="1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Siklus</a:t>
            </a:r>
            <a:r>
              <a:rPr lang="en-ID" sz="1600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 Waktu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CB1A2CA-A3A2-426B-02AE-F5FA0EAE4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12" y="809957"/>
            <a:ext cx="3623556" cy="243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826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D527FE66-B4C6-F237-6A4D-48D7141C1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832E4369-1D55-717B-44EF-D389FFAF57B4}"/>
              </a:ext>
            </a:extLst>
          </p:cNvPr>
          <p:cNvSpPr txBox="1"/>
          <p:nvPr/>
        </p:nvSpPr>
        <p:spPr>
          <a:xfrm>
            <a:off x="4080115" y="809957"/>
            <a:ext cx="4862085" cy="387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1.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Kategori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endParaRPr lang="en-ID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didominasi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kategori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Ringan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(71,1%),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diikuti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Mikro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(23,4%).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Kuat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hanya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5,4%,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sementara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Sangat Kuat sangat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jarang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2.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Kategori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endParaRPr lang="en-ID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228600" lvl="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Mayoritas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bersifat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Sangat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Dangkal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(&lt;50 km)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porsi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73,8%.</a:t>
            </a:r>
          </a:p>
          <a:p>
            <a:pPr marL="228600" lvl="0" indent="-2286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Dangkal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(50–100 km) dan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Menengah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(100–200 km) masing-masing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sekitar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11%.</a:t>
            </a:r>
          </a:p>
          <a:p>
            <a:pPr>
              <a:lnSpc>
                <a:spcPct val="150000"/>
              </a:lnSpc>
            </a:pP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3.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Perbandingan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&amp;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endParaRPr lang="en-ID" sz="1100" dirty="0">
              <a:latin typeface="Poppins" panose="00000500000000000000" pitchFamily="2" charset="0"/>
              <a:cs typeface="Poppins" panose="00000500000000000000" pitchFamily="2" charset="0"/>
            </a:endParaRP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Kombinasi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terbanyak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Sangat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Dangkal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–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Ringan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(47.576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kejadian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).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Semakin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besar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jumlah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kejadiannya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semakin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sedikit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semua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100" dirty="0" err="1"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D" sz="1100" dirty="0">
                <a:latin typeface="Poppins" panose="00000500000000000000" pitchFamily="2" charset="0"/>
                <a:cs typeface="Poppins" panose="00000500000000000000" pitchFamily="2" charset="0"/>
              </a:rPr>
              <a:t>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0C1355-D805-55B1-9F48-0FB075F3F58A}"/>
              </a:ext>
            </a:extLst>
          </p:cNvPr>
          <p:cNvSpPr txBox="1"/>
          <p:nvPr/>
        </p:nvSpPr>
        <p:spPr>
          <a:xfrm>
            <a:off x="1135118" y="77432"/>
            <a:ext cx="6350350" cy="384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sv-SE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Korelasi Intensitas: Hubungan Kedalaman dengan Kekuatan Gempa</a:t>
            </a:r>
            <a:endParaRPr lang="en-ID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BEE86E-9F17-6977-CD54-B0BE8D9E81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60" y="863950"/>
            <a:ext cx="3918599" cy="2459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645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1747379D-9BEC-6BA3-D3A0-710BBB169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C99B18E-6BE7-C0A0-23A1-81A5377C9538}"/>
              </a:ext>
            </a:extLst>
          </p:cNvPr>
          <p:cNvSpPr txBox="1"/>
          <p:nvPr/>
        </p:nvSpPr>
        <p:spPr>
          <a:xfrm>
            <a:off x="1860331" y="58513"/>
            <a:ext cx="5423337" cy="384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sv-SE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Distribusi Parameter Gempa Berdasarkan Lokasi Geografis</a:t>
            </a:r>
            <a:endParaRPr lang="en-ID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4D1330C-57BF-D735-25C6-3C0D7825F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7445"/>
            <a:ext cx="9144000" cy="4008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8116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E9D9CB33-016C-218A-CD1A-40CD5F0B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4DCC839-9DAE-90BB-7F2F-2C362DD23CF4}"/>
              </a:ext>
            </a:extLst>
          </p:cNvPr>
          <p:cNvSpPr txBox="1"/>
          <p:nvPr/>
        </p:nvSpPr>
        <p:spPr>
          <a:xfrm>
            <a:off x="1860331" y="58513"/>
            <a:ext cx="5423337" cy="384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sv-SE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Distribusi Parameter Gempa Berdasarkan Lokasi Geografis</a:t>
            </a:r>
            <a:endParaRPr lang="en-ID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91502B7-4730-B95A-C495-8B6396C4E631}"/>
              </a:ext>
            </a:extLst>
          </p:cNvPr>
          <p:cNvSpPr txBox="1"/>
          <p:nvPr/>
        </p:nvSpPr>
        <p:spPr>
          <a:xfrm>
            <a:off x="239636" y="847795"/>
            <a:ext cx="8614278" cy="3607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D" dirty="0"/>
              <a:t>1. </a:t>
            </a:r>
            <a:r>
              <a:rPr lang="en-ID" dirty="0" err="1"/>
              <a:t>Ringkasan</a:t>
            </a:r>
            <a:r>
              <a:rPr lang="en-ID" dirty="0"/>
              <a:t> Wilayah </a:t>
            </a:r>
            <a:r>
              <a:rPr lang="en-ID" dirty="0" err="1"/>
              <a:t>Gempa</a:t>
            </a:r>
            <a:endParaRPr lang="en-ID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dirty="0"/>
              <a:t>Wilayah Paling </a:t>
            </a:r>
            <a:r>
              <a:rPr lang="en-ID" dirty="0" err="1"/>
              <a:t>Aktif</a:t>
            </a:r>
            <a:r>
              <a:rPr lang="en-ID" dirty="0"/>
              <a:t>: </a:t>
            </a:r>
            <a:r>
              <a:rPr lang="en-ID" dirty="0" err="1"/>
              <a:t>Minahassa</a:t>
            </a:r>
            <a:r>
              <a:rPr lang="en-ID" dirty="0"/>
              <a:t> Peninsula – Sulawesi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gempa</a:t>
            </a:r>
            <a:r>
              <a:rPr lang="en-ID" dirty="0"/>
              <a:t> </a:t>
            </a:r>
            <a:r>
              <a:rPr lang="en-ID" dirty="0" err="1"/>
              <a:t>terbanyak</a:t>
            </a:r>
            <a:r>
              <a:rPr lang="en-ID" dirty="0"/>
              <a:t> (9.433 </a:t>
            </a:r>
            <a:r>
              <a:rPr lang="en-ID" dirty="0" err="1"/>
              <a:t>kejadian</a:t>
            </a:r>
            <a:r>
              <a:rPr lang="en-ID" dirty="0"/>
              <a:t>), </a:t>
            </a:r>
            <a:r>
              <a:rPr lang="en-ID" dirty="0" err="1"/>
              <a:t>diikuti</a:t>
            </a:r>
            <a:r>
              <a:rPr lang="en-ID" dirty="0"/>
              <a:t> Sulawesi, Sumbawa, dan Jawa.</a:t>
            </a:r>
          </a:p>
          <a:p>
            <a:pPr>
              <a:lnSpc>
                <a:spcPct val="150000"/>
              </a:lnSpc>
            </a:pPr>
            <a:r>
              <a:rPr lang="en-ID" dirty="0"/>
              <a:t>2. Rata-Rata </a:t>
            </a:r>
            <a:r>
              <a:rPr lang="en-ID" dirty="0" err="1"/>
              <a:t>Magnitudo</a:t>
            </a:r>
            <a:r>
              <a:rPr lang="en-ID" dirty="0"/>
              <a:t> </a:t>
            </a:r>
            <a:r>
              <a:rPr lang="en-ID" dirty="0" err="1"/>
              <a:t>Tertinggi</a:t>
            </a:r>
            <a:endParaRPr lang="en-ID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dirty="0"/>
              <a:t>Near South Coast of Irian Jaya </a:t>
            </a:r>
            <a:r>
              <a:rPr lang="en-ID" dirty="0" err="1"/>
              <a:t>memiliki</a:t>
            </a:r>
            <a:r>
              <a:rPr lang="en-ID" dirty="0"/>
              <a:t> </a:t>
            </a:r>
            <a:r>
              <a:rPr lang="en-ID" dirty="0" err="1"/>
              <a:t>magnitudo</a:t>
            </a:r>
            <a:r>
              <a:rPr lang="en-ID" dirty="0"/>
              <a:t> rata-rata </a:t>
            </a:r>
            <a:r>
              <a:rPr lang="en-ID" dirty="0" err="1"/>
              <a:t>terbesar</a:t>
            </a:r>
            <a:r>
              <a:rPr lang="en-ID" dirty="0"/>
              <a:t> (6), </a:t>
            </a:r>
            <a:r>
              <a:rPr lang="en-ID" dirty="0" err="1"/>
              <a:t>meski</a:t>
            </a:r>
            <a:r>
              <a:rPr lang="en-ID" dirty="0"/>
              <a:t> </a:t>
            </a:r>
            <a:r>
              <a:rPr lang="en-ID" dirty="0" err="1"/>
              <a:t>jumlah</a:t>
            </a:r>
            <a:r>
              <a:rPr lang="en-ID" dirty="0"/>
              <a:t> </a:t>
            </a:r>
            <a:r>
              <a:rPr lang="en-ID" dirty="0" err="1"/>
              <a:t>kejadiannya</a:t>
            </a:r>
            <a:r>
              <a:rPr lang="en-ID" dirty="0"/>
              <a:t> sangat </a:t>
            </a:r>
            <a:r>
              <a:rPr lang="en-ID" dirty="0" err="1"/>
              <a:t>sedikit</a:t>
            </a:r>
            <a:r>
              <a:rPr lang="en-ID" dirty="0"/>
              <a:t>. </a:t>
            </a:r>
            <a:r>
              <a:rPr lang="en-ID" dirty="0" err="1"/>
              <a:t>Beberapa</a:t>
            </a:r>
            <a:r>
              <a:rPr lang="en-ID" dirty="0"/>
              <a:t> wilayah lain </a:t>
            </a:r>
            <a:r>
              <a:rPr lang="en-ID" dirty="0" err="1"/>
              <a:t>seperti</a:t>
            </a:r>
            <a:r>
              <a:rPr lang="en-ID" dirty="0"/>
              <a:t> W. Caroline Islands dan South China Sea juga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magnitudo</a:t>
            </a:r>
            <a:r>
              <a:rPr lang="en-ID" dirty="0"/>
              <a:t> rata-rata yang </a:t>
            </a:r>
            <a:r>
              <a:rPr lang="en-ID" dirty="0" err="1"/>
              <a:t>relatif</a:t>
            </a:r>
            <a:r>
              <a:rPr lang="en-ID" dirty="0"/>
              <a:t> </a:t>
            </a:r>
            <a:r>
              <a:rPr lang="en-ID" dirty="0" err="1"/>
              <a:t>tinggi</a:t>
            </a:r>
            <a:r>
              <a:rPr lang="en-ID" dirty="0"/>
              <a:t>.</a:t>
            </a:r>
          </a:p>
          <a:p>
            <a:pPr lvl="0">
              <a:lnSpc>
                <a:spcPct val="150000"/>
              </a:lnSpc>
            </a:pPr>
            <a:r>
              <a:rPr lang="en-ID" dirty="0"/>
              <a:t>3. Rata-Rata </a:t>
            </a:r>
            <a:r>
              <a:rPr lang="en-ID" dirty="0" err="1"/>
              <a:t>Kedalaman</a:t>
            </a:r>
            <a:r>
              <a:rPr lang="en-ID" dirty="0"/>
              <a:t> </a:t>
            </a:r>
            <a:r>
              <a:rPr lang="en-ID" dirty="0" err="1"/>
              <a:t>Terdalam</a:t>
            </a:r>
            <a:endParaRPr lang="en-ID" dirty="0"/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dirty="0"/>
              <a:t>Java Sea </a:t>
            </a:r>
            <a:r>
              <a:rPr lang="en-ID" dirty="0" err="1"/>
              <a:t>mencatat</a:t>
            </a:r>
            <a:r>
              <a:rPr lang="en-ID" dirty="0"/>
              <a:t> </a:t>
            </a:r>
            <a:r>
              <a:rPr lang="en-ID" dirty="0" err="1"/>
              <a:t>gempa</a:t>
            </a:r>
            <a:r>
              <a:rPr lang="en-ID" dirty="0"/>
              <a:t> </a:t>
            </a:r>
            <a:r>
              <a:rPr lang="en-ID" dirty="0" err="1"/>
              <a:t>terdalam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rata-rata (±312 km), </a:t>
            </a:r>
            <a:r>
              <a:rPr lang="en-ID" dirty="0" err="1"/>
              <a:t>disusul</a:t>
            </a:r>
            <a:r>
              <a:rPr lang="en-ID" dirty="0"/>
              <a:t> Celebes Sea dan Near South Coast of New Guinea. Banda Sea </a:t>
            </a:r>
            <a:r>
              <a:rPr lang="en-ID" dirty="0" err="1"/>
              <a:t>menonjol</a:t>
            </a:r>
            <a:r>
              <a:rPr lang="en-ID" dirty="0"/>
              <a:t> </a:t>
            </a:r>
            <a:r>
              <a:rPr lang="en-ID" dirty="0" err="1"/>
              <a:t>karena</a:t>
            </a:r>
            <a:r>
              <a:rPr lang="en-ID" dirty="0"/>
              <a:t> </a:t>
            </a:r>
            <a:r>
              <a:rPr lang="en-ID" dirty="0" err="1"/>
              <a:t>menggabungkan</a:t>
            </a:r>
            <a:r>
              <a:rPr lang="en-ID" dirty="0"/>
              <a:t> </a:t>
            </a:r>
            <a:r>
              <a:rPr lang="en-ID" dirty="0" err="1"/>
              <a:t>kedalaman</a:t>
            </a:r>
            <a:r>
              <a:rPr lang="en-ID" dirty="0"/>
              <a:t> </a:t>
            </a:r>
            <a:r>
              <a:rPr lang="en-ID" dirty="0" err="1"/>
              <a:t>cukup</a:t>
            </a:r>
            <a:r>
              <a:rPr lang="en-ID" dirty="0"/>
              <a:t> </a:t>
            </a:r>
            <a:r>
              <a:rPr lang="en-ID" dirty="0" err="1"/>
              <a:t>besar</a:t>
            </a:r>
            <a:r>
              <a:rPr lang="en-ID" dirty="0"/>
              <a:t> 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frekuensi</a:t>
            </a:r>
            <a:r>
              <a:rPr lang="en-ID" dirty="0"/>
              <a:t> </a:t>
            </a:r>
            <a:r>
              <a:rPr lang="en-ID" dirty="0" err="1"/>
              <a:t>gempa</a:t>
            </a:r>
            <a:r>
              <a:rPr lang="en-ID" dirty="0"/>
              <a:t> yang </a:t>
            </a:r>
            <a:r>
              <a:rPr lang="en-ID" dirty="0" err="1"/>
              <a:t>tinggi</a:t>
            </a:r>
            <a:r>
              <a:rPr lang="en-ID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08144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07FAB4FD-0564-AA75-0460-A2D1CCC29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7C190F7D-3743-1978-9271-302988A0CF34}"/>
              </a:ext>
            </a:extLst>
          </p:cNvPr>
          <p:cNvSpPr txBox="1"/>
          <p:nvPr/>
        </p:nvSpPr>
        <p:spPr>
          <a:xfrm>
            <a:off x="3871876" y="285492"/>
            <a:ext cx="1349797" cy="384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Kesimpulan</a:t>
            </a:r>
            <a:endParaRPr lang="en-ID" dirty="0">
              <a:solidFill>
                <a:schemeClr val="tx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DC1FAEA-4487-D5FC-726C-82B4EA8EC201}"/>
              </a:ext>
            </a:extLst>
          </p:cNvPr>
          <p:cNvSpPr txBox="1"/>
          <p:nvPr/>
        </p:nvSpPr>
        <p:spPr>
          <a:xfrm>
            <a:off x="239636" y="847795"/>
            <a:ext cx="8614278" cy="3113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Aktivitas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didominasi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kejadian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siang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hari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total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sekitar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47,7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ribu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Rata-rata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berada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di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kisaran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dangkal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yaitu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±48,9 km.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Sebagian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besar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termasuk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kategori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Sangat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Dangkal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(&lt;50 km)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porsi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lebih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70%.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Indonesia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didominasi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kategori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Ringan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mencapai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sekitar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71%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total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kejadian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Kombinasi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paling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sering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adalah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Ringan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Sangat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Dangkal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dengan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besar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sangat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dalam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merupakan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peristiwa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yang sangat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jarang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Frekuensi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cenderung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meningkat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dari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pagi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mencapai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puncak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pada sore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hari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Secara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bulanan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aktivitas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gempa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tertinggi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terjadi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pada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akhir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tahun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terutama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bulan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Desember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Rata-rata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magnitudo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kedalaman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relatif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stabil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baik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per jam, per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hari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,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maupun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per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bulan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Wilayah Indonesia Timur dan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sekitarnya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menjadi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area paling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aktif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dan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kompleks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secara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 </a:t>
            </a:r>
            <a:r>
              <a:rPr lang="en-ID" sz="1200" dirty="0" err="1">
                <a:latin typeface="Poppins" panose="00000500000000000000" pitchFamily="2" charset="0"/>
                <a:cs typeface="Poppins" panose="00000500000000000000" pitchFamily="2" charset="0"/>
              </a:rPr>
              <a:t>seismik</a:t>
            </a:r>
            <a:r>
              <a:rPr lang="en-ID" sz="1200" dirty="0">
                <a:latin typeface="Poppins" panose="00000500000000000000" pitchFamily="2" charset="0"/>
                <a:cs typeface="Poppins" panose="00000500000000000000" pitchFamily="2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209898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456B3-FCD4-53E6-B802-ABFDC24B49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700" y="859800"/>
            <a:ext cx="4020300" cy="2404200"/>
          </a:xfrm>
        </p:spPr>
        <p:txBody>
          <a:bodyPr wrap="square" anchor="ctr">
            <a:normAutofit/>
          </a:bodyPr>
          <a:lstStyle/>
          <a:p>
            <a:pPr marL="114300" indent="0">
              <a:buNone/>
            </a:pPr>
            <a:r>
              <a:rPr lang="en-US" dirty="0"/>
              <a:t>TERIMAKASIH</a:t>
            </a:r>
            <a:endParaRPr lang="en-ID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2F021571-FC10-5EA8-2CA4-DE005A8F6F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5700" y="4107600"/>
            <a:ext cx="4248300" cy="5907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5084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1211</Words>
  <Application>Microsoft Office PowerPoint</Application>
  <PresentationFormat>On-screen Show (16:9)</PresentationFormat>
  <Paragraphs>110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Poppins Light</vt:lpstr>
      <vt:lpstr>Poppins SemiBold</vt:lpstr>
      <vt:lpstr>Poppins</vt:lpstr>
      <vt:lpstr>Simple Light</vt:lpstr>
      <vt:lpstr>Simple Light</vt:lpstr>
      <vt:lpstr>Analisis Data Gempa Bumi di Indonesia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TERIMAKASIH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Ahmad Ricky Ghozali</dc:creator>
  <cp:lastModifiedBy>Ahmad Ricky Ghozali</cp:lastModifiedBy>
  <cp:revision>1</cp:revision>
  <dcterms:modified xsi:type="dcterms:W3CDTF">2026-02-10T15:11:55Z</dcterms:modified>
</cp:coreProperties>
</file>